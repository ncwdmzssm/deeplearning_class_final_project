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01" r:id="rId2"/>
    <p:sldId id="432" r:id="rId3"/>
    <p:sldId id="414" r:id="rId4"/>
    <p:sldId id="416" r:id="rId5"/>
    <p:sldId id="418" r:id="rId6"/>
    <p:sldId id="421" r:id="rId7"/>
    <p:sldId id="419" r:id="rId8"/>
    <p:sldId id="420" r:id="rId9"/>
    <p:sldId id="422" r:id="rId10"/>
    <p:sldId id="423" r:id="rId11"/>
    <p:sldId id="425" r:id="rId12"/>
    <p:sldId id="426" r:id="rId13"/>
    <p:sldId id="427" r:id="rId14"/>
    <p:sldId id="430" r:id="rId15"/>
    <p:sldId id="424" r:id="rId16"/>
    <p:sldId id="431" r:id="rId17"/>
    <p:sldId id="42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0" userDrawn="1">
          <p15:clr>
            <a:srgbClr val="A4A3A4"/>
          </p15:clr>
        </p15:guide>
        <p15:guide id="2" pos="3840" userDrawn="1">
          <p15:clr>
            <a:srgbClr val="A4A3A4"/>
          </p15:clr>
        </p15:guide>
        <p15:guide id="3" pos="315" userDrawn="1">
          <p15:clr>
            <a:srgbClr val="A4A3A4"/>
          </p15:clr>
        </p15:guide>
        <p15:guide id="4" pos="7355" userDrawn="1">
          <p15:clr>
            <a:srgbClr val="A4A3A4"/>
          </p15:clr>
        </p15:guide>
        <p15:guide id="5" orient="horz" pos="284" userDrawn="1">
          <p15:clr>
            <a:srgbClr val="A4A3A4"/>
          </p15:clr>
        </p15:guide>
        <p15:guide id="6" orient="horz" pos="39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AB7B4"/>
    <a:srgbClr val="31B4B3"/>
    <a:srgbClr val="28A2A2"/>
    <a:srgbClr val="25A40C"/>
    <a:srgbClr val="3C3C3C"/>
    <a:srgbClr val="4C849D"/>
    <a:srgbClr val="27A9A5"/>
    <a:srgbClr val="2B6680"/>
    <a:srgbClr val="649A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99" autoAdjust="0"/>
    <p:restoredTop sz="94032" autoAdjust="0"/>
  </p:normalViewPr>
  <p:slideViewPr>
    <p:cSldViewPr snapToGrid="0" showGuides="1">
      <p:cViewPr varScale="1">
        <p:scale>
          <a:sx n="65" d="100"/>
          <a:sy n="65" d="100"/>
        </p:scale>
        <p:origin x="64" y="200"/>
      </p:cViewPr>
      <p:guideLst>
        <p:guide orient="horz" pos="2130"/>
        <p:guide pos="3840"/>
        <p:guide pos="315"/>
        <p:guide pos="7355"/>
        <p:guide orient="horz" pos="284"/>
        <p:guide orient="horz" pos="39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2B34EC-0AE6-42E6-81E7-CFE612768C09}" type="datetimeFigureOut">
              <a:rPr lang="zh-CN" altLang="en-US" smtClean="0"/>
              <a:t>2026/4/30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854FA-F43A-4D85-8F39-2B65D8AFDFA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C0854FA-F43A-4D85-8F39-2B65D8AFDFA8}" type="slidenum">
              <a:rPr lang="zh-CN" altLang="en-US" smtClean="0"/>
              <a:t>17</a:t>
            </a:fld>
            <a:endParaRPr lang="zh-CN" altLang="en-US"/>
          </a:p>
        </p:txBody>
      </p:sp>
    </p:spTree>
    <p:extLst>
      <p:ext uri="{BB962C8B-B14F-4D97-AF65-F5344CB8AC3E}">
        <p14:creationId xmlns:p14="http://schemas.microsoft.com/office/powerpoint/2010/main" val="265080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进阶设计）">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github.com/fire-institute/fire/blob/main/src/firefin/common/config.yaml" TargetMode="External"/><Relationship Id="rId5" Type="http://schemas.openxmlformats.org/officeDocument/2006/relationships/hyperlink" Target="https://github.com/fire-institute/fire/blob/main/README.md" TargetMode="External"/><Relationship Id="rId4" Type="http://schemas.openxmlformats.org/officeDocument/2006/relationships/hyperlink" Target="https://github.com/fire-institute/fire"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fire-institute/fire"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5.png"/><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github.com/karpathy/nanoGPT" TargetMode="External"/><Relationship Id="rId5" Type="http://schemas.openxmlformats.org/officeDocument/2006/relationships/hyperlink" Target="https://www.youtube.com/watch?v=bZQun8Y4L2A"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github.com/jingyaogong/minimind/blob/master/model/tokenizer.json" TargetMode="External"/><Relationship Id="rId4" Type="http://schemas.openxmlformats.org/officeDocument/2006/relationships/hyperlink" Target="https://platform.openai.com/tokenize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github.com/jingyaogong/minimind/blob/master/trainer/train_full_sft.py" TargetMode="External"/><Relationship Id="rId5" Type="http://schemas.openxmlformats.org/officeDocument/2006/relationships/hyperlink" Target="https://github.com/jingyaogong/minimind/blob/master/trainer/train_pretrain.py" TargetMode="Externa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hyperlink" Target="https://github.com/jingyaogong/minimind/blob/master/trainer/train_dpo.py"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arxiv.org/pdf/2203.02155"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huggingface/open-r1" TargetMode="External"/><Relationship Id="rId3" Type="http://schemas.openxmlformats.org/officeDocument/2006/relationships/image" Target="../media/image1.svg"/><Relationship Id="rId7"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hyperlink" Target="https://github.com/jingyaogong/minimind/blob/master/trainer/train_distill_reason.py"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hyperlink" Target="https://github.com/fire-institute/fire"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github.com/rasbt/LLMs-from-scratch" TargetMode="External"/><Relationship Id="rId5" Type="http://schemas.openxmlformats.org/officeDocument/2006/relationships/hyperlink" Target="https://github.com/jingyaogong/minimind" TargetMode="External"/><Relationship Id="rId4" Type="http://schemas.openxmlformats.org/officeDocument/2006/relationships/hyperlink" Target="https://jingyaogong.github.io/minimind/"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659468" y="2900233"/>
            <a:ext cx="87300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300"/>
              </a:spcAft>
              <a:buClrTx/>
              <a:buSzTx/>
              <a:buFontTx/>
              <a:buNone/>
              <a:defRPr/>
            </a:pPr>
            <a:r>
              <a:rPr lang="zh-CN" altLang="en-US" sz="3600" spc="300" dirty="0">
                <a:gradFill>
                  <a:gsLst>
                    <a:gs pos="0">
                      <a:srgbClr val="31B4B3">
                        <a:lumMod val="90000"/>
                        <a:lumOff val="10000"/>
                      </a:srgbClr>
                    </a:gs>
                    <a:gs pos="100000">
                      <a:srgbClr val="28A2A2"/>
                    </a:gs>
                  </a:gsLst>
                  <a:lin ang="5400000" scaled="1"/>
                </a:gradFill>
                <a:latin typeface="思源黑体 CN Heavy" panose="020B0A00000000000000" pitchFamily="34" charset="-122"/>
                <a:ea typeface="思源黑体 CN Heavy" panose="020B0A00000000000000" pitchFamily="34" charset="-122"/>
              </a:rPr>
              <a:t>大语言模型的训练原理与实证研究项目</a:t>
            </a:r>
            <a:endParaRPr kumimoji="0" lang="en-US" altLang="zh-CN" sz="3600" b="1" i="0" u="none" strike="noStrike" kern="1200" cap="none" spc="300" normalizeH="0" baseline="0" noProof="0" dirty="0">
              <a:ln>
                <a:noFill/>
              </a:ln>
              <a:gradFill>
                <a:gsLst>
                  <a:gs pos="0">
                    <a:srgbClr val="31B4B3">
                      <a:lumMod val="90000"/>
                      <a:lumOff val="10000"/>
                    </a:srgbClr>
                  </a:gs>
                  <a:gs pos="100000">
                    <a:srgbClr val="28A2A2"/>
                  </a:gs>
                </a:gsLst>
                <a:lin ang="5400000" scaled="1"/>
              </a:gradFill>
              <a:effectLst/>
              <a:uLnTx/>
              <a:uFillTx/>
              <a:latin typeface="Open Sans SemiBold" panose="020B0706030804020204" pitchFamily="34" charset="0"/>
              <a:ea typeface="思源黑体 CN Heavy" panose="020B0A00000000000000" pitchFamily="34" charset="-122"/>
              <a:cs typeface="Open Sans SemiBold" panose="020B0706030804020204" pitchFamily="34" charset="0"/>
            </a:endParaRPr>
          </a:p>
        </p:txBody>
      </p:sp>
      <p:pic>
        <p:nvPicPr>
          <p:cNvPr id="9" name="图形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44123" y="485484"/>
            <a:ext cx="2831940" cy="520356"/>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5440680"/>
            <a:ext cx="12188952" cy="1435608"/>
          </a:xfrm>
          <a:prstGeom prst="rect">
            <a:avLst/>
          </a:prstGeom>
        </p:spPr>
      </p:pic>
      <p:pic>
        <p:nvPicPr>
          <p:cNvPr id="3" name="Picture 2" descr="image.png"/>
          <p:cNvPicPr>
            <a:picLocks noChangeAspect="1"/>
          </p:cNvPicPr>
          <p:nvPr/>
        </p:nvPicPr>
        <p:blipFill>
          <a:blip r:embed="rId3"/>
          <a:srcRect r="37000"/>
          <a:stretch>
            <a:fillRect/>
          </a:stretch>
        </p:blipFill>
        <p:spPr>
          <a:xfrm>
            <a:off x="10588752" y="6547104"/>
            <a:ext cx="1572768" cy="292608"/>
          </a:xfrm>
          <a:prstGeom prst="rect">
            <a:avLst/>
          </a:prstGeom>
        </p:spPr>
      </p:pic>
      <p:sp>
        <p:nvSpPr>
          <p:cNvPr id="4" name="TextBox 3"/>
          <p:cNvSpPr txBox="1"/>
          <p:nvPr/>
        </p:nvSpPr>
        <p:spPr>
          <a:xfrm>
            <a:off x="420624" y="192024"/>
            <a:ext cx="6099048" cy="430887"/>
          </a:xfrm>
          <a:prstGeom prst="rect">
            <a:avLst/>
          </a:prstGeom>
          <a:noFill/>
        </p:spPr>
        <p:txBody>
          <a:bodyPr wrap="square" lIns="0" tIns="0" rIns="0" bIns="0" anchor="t">
            <a:spAutoFit/>
          </a:bodyPr>
          <a:lstStyle/>
          <a:p>
            <a:r>
              <a:rPr lang="en-US" altLang="zh-CN" sz="2800" dirty="0">
                <a:solidFill>
                  <a:srgbClr val="28A2A2"/>
                </a:solidFill>
                <a:ea typeface="思源黑体 CN Bold" panose="020B0800000000000000" pitchFamily="34" charset="-122"/>
                <a:cs typeface="Open Sans" panose="020B0606030504020204" pitchFamily="34" charset="0"/>
              </a:rPr>
              <a:t>FIRE</a:t>
            </a:r>
            <a:r>
              <a:rPr lang="zh-CN" altLang="en-US" sz="2800" dirty="0">
                <a:solidFill>
                  <a:srgbClr val="28A2A2"/>
                </a:solidFill>
                <a:ea typeface="思源黑体 CN Bold" panose="020B0800000000000000" pitchFamily="34" charset="-122"/>
                <a:cs typeface="Open Sans" panose="020B0606030504020204" pitchFamily="34" charset="0"/>
              </a:rPr>
              <a:t>项目简介</a:t>
            </a:r>
            <a:endParaRPr lang="zh-CN" altLang="en-US" sz="2800" dirty="0"/>
          </a:p>
        </p:txBody>
      </p:sp>
      <p:cxnSp>
        <p:nvCxnSpPr>
          <p:cNvPr id="5" name="Connector 4"/>
          <p:cNvCxnSpPr/>
          <p:nvPr/>
        </p:nvCxnSpPr>
        <p:spPr>
          <a:xfrm>
            <a:off x="502920" y="749808"/>
            <a:ext cx="8421624" cy="0"/>
          </a:xfrm>
          <a:prstGeom prst="line">
            <a:avLst/>
          </a:prstGeom>
          <a:ln w="17780">
            <a:solidFill>
              <a:srgbClr val="28A2A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822960"/>
            <a:ext cx="10700604" cy="4339650"/>
          </a:xfrm>
          <a:prstGeom prst="rect">
            <a:avLst/>
          </a:prstGeom>
          <a:noFill/>
        </p:spPr>
        <p:txBody>
          <a:bodyPr wrap="square" lIns="0" tIns="0" rIns="0" bIns="0" anchor="t">
            <a:spAutoFit/>
          </a:bodyPr>
          <a:lstStyle/>
          <a:p>
            <a:pPr algn="l">
              <a:spcAft>
                <a:spcPts val="400"/>
              </a:spcAft>
            </a:pPr>
            <a:r>
              <a:rPr b="1" u="none" dirty="0">
                <a:solidFill>
                  <a:srgbClr val="3C3C3C"/>
                </a:solidFill>
                <a:latin typeface="思源黑体 CN Regular"/>
              </a:rPr>
              <a:t>F.I.R.E. = Factor Investment Research Engine</a:t>
            </a:r>
          </a:p>
          <a:p>
            <a:pPr algn="l">
              <a:spcAft>
                <a:spcPts val="400"/>
              </a:spcAft>
            </a:pPr>
            <a:r>
              <a:rPr b="0" u="none" dirty="0" err="1">
                <a:solidFill>
                  <a:srgbClr val="3C3C3C"/>
                </a:solidFill>
                <a:latin typeface="思源黑体 CN Regular"/>
              </a:rPr>
              <a:t>该仓库是《Navigating</a:t>
            </a:r>
            <a:r>
              <a:rPr b="0" u="none" dirty="0">
                <a:solidFill>
                  <a:srgbClr val="3C3C3C"/>
                </a:solidFill>
                <a:latin typeface="思源黑体 CN Regular"/>
              </a:rPr>
              <a:t> the Factor Zoo: The Science of Quantitative </a:t>
            </a:r>
            <a:r>
              <a:rPr b="0" u="none" dirty="0" err="1">
                <a:solidFill>
                  <a:srgbClr val="3C3C3C"/>
                </a:solidFill>
                <a:latin typeface="思源黑体 CN Regular"/>
              </a:rPr>
              <a:t>Investing》配套的开源工具包，核心目标是为量化因子研究提供统一的数据读取、未来收益计算与因子评测能力</a:t>
            </a:r>
            <a:r>
              <a:rPr b="0" u="none" dirty="0">
                <a:solidFill>
                  <a:srgbClr val="3C3C3C"/>
                </a:solidFill>
                <a:latin typeface="思源黑体 CN Regular"/>
              </a:rPr>
              <a:t>。</a:t>
            </a:r>
          </a:p>
          <a:p>
            <a:pPr algn="l">
              <a:spcAft>
                <a:spcPts val="200"/>
              </a:spcAft>
            </a:pPr>
            <a:r>
              <a:rPr b="1" u="none" dirty="0" err="1">
                <a:solidFill>
                  <a:srgbClr val="3C3C3C"/>
                </a:solidFill>
                <a:latin typeface="思源黑体 CN Regular"/>
              </a:rPr>
              <a:t>课程里最常用的三类能力</a:t>
            </a:r>
            <a:endParaRPr b="1" u="none" dirty="0">
              <a:solidFill>
                <a:srgbClr val="3C3C3C"/>
              </a:solidFill>
              <a:latin typeface="思源黑体 CN Regular"/>
            </a:endParaRPr>
          </a:p>
          <a:p>
            <a:pPr algn="l">
              <a:spcAft>
                <a:spcPts val="500"/>
              </a:spcAft>
            </a:pPr>
            <a:r>
              <a:rPr b="0" u="none" dirty="0">
                <a:solidFill>
                  <a:srgbClr val="3C3C3C"/>
                </a:solidFill>
                <a:latin typeface="思源黑体 CN Regular"/>
              </a:rPr>
              <a:t>1. </a:t>
            </a:r>
            <a:r>
              <a:rPr b="0" u="none" dirty="0" err="1">
                <a:solidFill>
                  <a:srgbClr val="3C3C3C"/>
                </a:solidFill>
                <a:latin typeface="思源黑体 CN Regular"/>
              </a:rPr>
              <a:t>fetch_data</a:t>
            </a:r>
            <a:r>
              <a:rPr b="0" u="none" dirty="0">
                <a:solidFill>
                  <a:srgbClr val="3C3C3C"/>
                </a:solidFill>
                <a:latin typeface="思源黑体 CN Regular"/>
              </a:rPr>
              <a:t>(...): </a:t>
            </a:r>
            <a:r>
              <a:rPr b="0" u="none" dirty="0" err="1">
                <a:solidFill>
                  <a:srgbClr val="3C3C3C"/>
                </a:solidFill>
                <a:latin typeface="思源黑体 CN Regular"/>
              </a:rPr>
              <a:t>读取</a:t>
            </a:r>
            <a:r>
              <a:rPr b="0" u="none" dirty="0">
                <a:solidFill>
                  <a:srgbClr val="3C3C3C"/>
                </a:solidFill>
                <a:latin typeface="思源黑体 CN Regular"/>
              </a:rPr>
              <a:t> A </a:t>
            </a:r>
            <a:r>
              <a:rPr b="0" u="none" dirty="0" err="1">
                <a:solidFill>
                  <a:srgbClr val="3C3C3C"/>
                </a:solidFill>
                <a:latin typeface="思源黑体 CN Regular"/>
              </a:rPr>
              <a:t>股量价、估值、财务等字段</a:t>
            </a:r>
            <a:r>
              <a:rPr b="0" u="none" dirty="0">
                <a:solidFill>
                  <a:srgbClr val="3C3C3C"/>
                </a:solidFill>
                <a:latin typeface="思源黑体 CN Regular"/>
              </a:rPr>
              <a:t>。
2. </a:t>
            </a:r>
            <a:r>
              <a:rPr b="0" u="none" dirty="0" err="1">
                <a:solidFill>
                  <a:srgbClr val="3C3C3C"/>
                </a:solidFill>
                <a:latin typeface="思源黑体 CN Regular"/>
              </a:rPr>
              <a:t>compute_forward_returns</a:t>
            </a:r>
            <a:r>
              <a:rPr b="0" u="none" dirty="0">
                <a:solidFill>
                  <a:srgbClr val="3C3C3C"/>
                </a:solidFill>
                <a:latin typeface="思源黑体 CN Regular"/>
              </a:rPr>
              <a:t>(...): </a:t>
            </a:r>
            <a:r>
              <a:rPr b="0" u="none" dirty="0" err="1">
                <a:solidFill>
                  <a:srgbClr val="3C3C3C"/>
                </a:solidFill>
                <a:latin typeface="思源黑体 CN Regular"/>
              </a:rPr>
              <a:t>计算</a:t>
            </a:r>
            <a:r>
              <a:rPr b="0" u="none" dirty="0">
                <a:solidFill>
                  <a:srgbClr val="3C3C3C"/>
                </a:solidFill>
                <a:latin typeface="思源黑体 CN Regular"/>
              </a:rPr>
              <a:t> 1 / 5 / 10 </a:t>
            </a:r>
            <a:r>
              <a:rPr b="0" u="none" dirty="0" err="1">
                <a:solidFill>
                  <a:srgbClr val="3C3C3C"/>
                </a:solidFill>
                <a:latin typeface="思源黑体 CN Regular"/>
              </a:rPr>
              <a:t>日等未来收益</a:t>
            </a:r>
            <a:r>
              <a:rPr b="0" u="none" dirty="0">
                <a:solidFill>
                  <a:srgbClr val="3C3C3C"/>
                </a:solidFill>
                <a:latin typeface="思源黑体 CN Regular"/>
              </a:rPr>
              <a:t>。
3. Evaluator(...): </a:t>
            </a:r>
            <a:r>
              <a:rPr b="0" u="none" dirty="0" err="1">
                <a:solidFill>
                  <a:srgbClr val="3C3C3C"/>
                </a:solidFill>
                <a:latin typeface="思源黑体 CN Regular"/>
              </a:rPr>
              <a:t>对因子做</a:t>
            </a:r>
            <a:r>
              <a:rPr b="0" u="none" dirty="0">
                <a:solidFill>
                  <a:srgbClr val="3C3C3C"/>
                </a:solidFill>
                <a:latin typeface="思源黑体 CN Regular"/>
              </a:rPr>
              <a:t> </a:t>
            </a:r>
            <a:r>
              <a:rPr b="0" u="none" dirty="0" err="1">
                <a:solidFill>
                  <a:srgbClr val="3C3C3C"/>
                </a:solidFill>
                <a:latin typeface="思源黑体 CN Regular"/>
              </a:rPr>
              <a:t>IC、分层收益、稳定性等评测</a:t>
            </a:r>
            <a:r>
              <a:rPr b="0" u="none" dirty="0">
                <a:solidFill>
                  <a:srgbClr val="3C3C3C"/>
                </a:solidFill>
                <a:latin typeface="思源黑体 CN Regular"/>
              </a:rPr>
              <a:t>。</a:t>
            </a:r>
          </a:p>
          <a:p>
            <a:pPr algn="l">
              <a:spcAft>
                <a:spcPts val="500"/>
              </a:spcAft>
            </a:pPr>
            <a:r>
              <a:rPr lang="zh-CN" altLang="en-US" b="1" dirty="0">
                <a:solidFill>
                  <a:srgbClr val="3C3C3C"/>
                </a:solidFill>
                <a:latin typeface="思源黑体 CN Regular"/>
              </a:rPr>
              <a:t>项目定位</a:t>
            </a:r>
            <a:endParaRPr lang="en-US" b="1" u="none" dirty="0">
              <a:solidFill>
                <a:srgbClr val="3C3C3C"/>
              </a:solidFill>
              <a:latin typeface="思源黑体 CN Regular"/>
            </a:endParaRPr>
          </a:p>
          <a:p>
            <a:pPr algn="l">
              <a:spcAft>
                <a:spcPts val="500"/>
              </a:spcAft>
            </a:pPr>
            <a:r>
              <a:rPr b="0" u="none" dirty="0">
                <a:solidFill>
                  <a:srgbClr val="3C3C3C"/>
                </a:solidFill>
                <a:latin typeface="思源黑体 CN Regular"/>
              </a:rPr>
              <a:t>FIRE </a:t>
            </a:r>
            <a:r>
              <a:rPr b="0" u="none" dirty="0" err="1">
                <a:solidFill>
                  <a:srgbClr val="3C3C3C"/>
                </a:solidFill>
                <a:latin typeface="思源黑体 CN Regular"/>
              </a:rPr>
              <a:t>是数据底座</a:t>
            </a:r>
            <a:r>
              <a:rPr b="0" u="none" dirty="0">
                <a:solidFill>
                  <a:srgbClr val="3C3C3C"/>
                </a:solidFill>
                <a:latin typeface="思源黑体 CN Regular"/>
              </a:rPr>
              <a:t> + </a:t>
            </a:r>
            <a:r>
              <a:rPr b="0" u="none" dirty="0" err="1">
                <a:solidFill>
                  <a:srgbClr val="3C3C3C"/>
                </a:solidFill>
                <a:latin typeface="思源黑体 CN Regular"/>
              </a:rPr>
              <a:t>因子评测器</a:t>
            </a:r>
            <a:r>
              <a:rPr b="0" u="none" dirty="0">
                <a:solidFill>
                  <a:srgbClr val="3C3C3C"/>
                </a:solidFill>
                <a:latin typeface="思源黑体 CN Regular"/>
              </a:rPr>
              <a:t> + reward </a:t>
            </a:r>
            <a:r>
              <a:rPr b="0" u="none" dirty="0" err="1">
                <a:solidFill>
                  <a:srgbClr val="3C3C3C"/>
                </a:solidFill>
                <a:latin typeface="思源黑体 CN Regular"/>
              </a:rPr>
              <a:t>计算底座</a:t>
            </a:r>
            <a:endParaRPr b="0" u="none" dirty="0">
              <a:solidFill>
                <a:srgbClr val="3C3C3C"/>
              </a:solidFill>
              <a:latin typeface="思源黑体 CN Regular"/>
            </a:endParaRPr>
          </a:p>
          <a:p>
            <a:pPr algn="l">
              <a:spcAft>
                <a:spcPts val="100"/>
              </a:spcAft>
            </a:pPr>
            <a:r>
              <a:rPr b="1" u="none" dirty="0" err="1">
                <a:solidFill>
                  <a:srgbClr val="3C3C3C"/>
                </a:solidFill>
                <a:latin typeface="思源黑体 CN Regular"/>
              </a:rPr>
              <a:t>链接</a:t>
            </a:r>
            <a:endParaRPr b="1" u="none" dirty="0">
              <a:solidFill>
                <a:srgbClr val="3C3C3C"/>
              </a:solidFill>
              <a:latin typeface="思源黑体 CN Regular"/>
            </a:endParaRPr>
          </a:p>
          <a:p>
            <a:pPr algn="l">
              <a:spcAft>
                <a:spcPts val="0"/>
              </a:spcAft>
            </a:pPr>
            <a:r>
              <a:rPr b="0" u="sng" dirty="0">
                <a:solidFill>
                  <a:srgbClr val="28A2A2"/>
                </a:solidFill>
                <a:latin typeface="思源黑体 CN Regular"/>
                <a:hlinkClick r:id="rId4"/>
              </a:rPr>
              <a:t>https://github.com/fire-institute/fire</a:t>
            </a:r>
          </a:p>
          <a:p>
            <a:pPr algn="l">
              <a:spcAft>
                <a:spcPts val="0"/>
              </a:spcAft>
            </a:pPr>
            <a:r>
              <a:rPr b="0" u="sng" dirty="0">
                <a:solidFill>
                  <a:srgbClr val="28A2A2"/>
                </a:solidFill>
                <a:latin typeface="思源黑体 CN Regular"/>
                <a:hlinkClick r:id="rId5"/>
              </a:rPr>
              <a:t>https://github.com/fire-institute/fire/blob/main/README.md</a:t>
            </a:r>
          </a:p>
          <a:p>
            <a:pPr algn="l">
              <a:spcAft>
                <a:spcPts val="0"/>
              </a:spcAft>
            </a:pPr>
            <a:r>
              <a:rPr b="0" u="sng" dirty="0">
                <a:solidFill>
                  <a:srgbClr val="28A2A2"/>
                </a:solidFill>
                <a:latin typeface="思源黑体 CN Regular"/>
                <a:hlinkClick r:id="rId6"/>
              </a:rPr>
              <a:t>https://github.com/fire-institute/fire/blob/main/src/firefin/common/config.yaml</a:t>
            </a:r>
            <a:endParaRPr lang="en-US" b="0" u="sng" dirty="0">
              <a:solidFill>
                <a:srgbClr val="28A2A2"/>
              </a:solidFill>
              <a:latin typeface="思源黑体 CN Regular"/>
              <a:hlinkClick r:id="rId6"/>
            </a:endParaRPr>
          </a:p>
          <a:p>
            <a:pPr algn="l">
              <a:spcAft>
                <a:spcPts val="0"/>
              </a:spcAft>
            </a:pPr>
            <a:endParaRPr b="0" u="sng" dirty="0">
              <a:solidFill>
                <a:srgbClr val="28A2A2"/>
              </a:solidFill>
              <a:latin typeface="思源黑体 CN Regular"/>
              <a:hlinkClick r:id="rId6"/>
            </a:endParaRPr>
          </a:p>
        </p:txBody>
      </p:sp>
    </p:spTree>
    <p:extLst>
      <p:ext uri="{BB962C8B-B14F-4D97-AF65-F5344CB8AC3E}">
        <p14:creationId xmlns:p14="http://schemas.microsoft.com/office/powerpoint/2010/main" val="286654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引言</a:t>
            </a:r>
            <a:endParaRPr lang="zh-CN" altLang="en-US" sz="2800" dirty="0"/>
          </a:p>
        </p:txBody>
      </p:sp>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00088" y="973597"/>
            <a:ext cx="8531769" cy="400110"/>
          </a:xfrm>
          <a:prstGeom prst="rect">
            <a:avLst/>
          </a:prstGeom>
          <a:noFill/>
        </p:spPr>
        <p:txBody>
          <a:bodyPr wrap="square">
            <a:spAutoFit/>
          </a:bodyPr>
          <a:lstStyle/>
          <a:p>
            <a:pPr marL="285750" indent="-285750">
              <a:buFont typeface="Arial" panose="020B0604020202020204" pitchFamily="34" charset="0"/>
              <a:buChar char="•"/>
            </a:pPr>
            <a:r>
              <a:rPr lang="zh-CN" altLang="en-US" sz="2000"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大语言模型</a:t>
            </a:r>
            <a:r>
              <a:rPr lang="en-US" altLang="zh-CN" sz="2000"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(LLM) </a:t>
            </a:r>
            <a:endParaRPr kumimoji="0" lang="en-US" altLang="zh-CN" sz="2000"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15" name="文本框 14"/>
          <p:cNvSpPr txBox="1"/>
          <p:nvPr/>
        </p:nvSpPr>
        <p:spPr>
          <a:xfrm>
            <a:off x="500380" y="1399540"/>
            <a:ext cx="5473700" cy="922020"/>
          </a:xfrm>
          <a:prstGeom prst="rect">
            <a:avLst/>
          </a:prstGeom>
          <a:noFill/>
        </p:spPr>
        <p:txBody>
          <a:bodyPr wrap="square" rtlCol="0">
            <a:spAutoFit/>
          </a:bodyPr>
          <a:lstStyle/>
          <a:p>
            <a:pPr algn="l"/>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引发</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AI</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热潮，例如 </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ChatGPT </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等模型表现惊艳，但其背后的训练流程对大多数学习者而言仍然并不透明。</a:t>
            </a:r>
          </a:p>
          <a:p>
            <a:pPr algn="l"/>
            <a:endPar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19" name="文本框 18"/>
          <p:cNvSpPr txBox="1"/>
          <p:nvPr/>
        </p:nvSpPr>
        <p:spPr>
          <a:xfrm>
            <a:off x="500088" y="2222041"/>
            <a:ext cx="8531769" cy="400110"/>
          </a:xfrm>
          <a:prstGeom prst="rect">
            <a:avLst/>
          </a:prstGeom>
          <a:noFill/>
        </p:spPr>
        <p:txBody>
          <a:bodyPr wrap="square">
            <a:spAutoFit/>
          </a:bodyPr>
          <a:lstStyle/>
          <a:p>
            <a:pPr marL="285750" indent="-285750">
              <a:buFont typeface="Arial" panose="020B0604020202020204" pitchFamily="34" charset="0"/>
              <a:buChar char="•"/>
            </a:pPr>
            <a:r>
              <a:rPr lang="zh-CN" altLang="en-US" sz="2000"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黑盒困境</a:t>
            </a:r>
            <a:endParaRPr kumimoji="0" lang="en-US" altLang="zh-CN" sz="2000"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23" name="文本框 22"/>
          <p:cNvSpPr txBox="1"/>
          <p:nvPr/>
        </p:nvSpPr>
        <p:spPr>
          <a:xfrm>
            <a:off x="500380" y="2637790"/>
            <a:ext cx="5379085" cy="1198880"/>
          </a:xfrm>
          <a:prstGeom prst="rect">
            <a:avLst/>
          </a:prstGeom>
          <a:noFill/>
        </p:spPr>
        <p:txBody>
          <a:bodyPr wrap="square" rtlCol="0">
            <a:spAutoFit/>
          </a:bodyPr>
          <a:lstStyle/>
          <a:p>
            <a:pPr algn="l"/>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主流</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LLM</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框架高度封装，几行代码即可完成训练流程，却使我们远离底层实现。若不能看清 </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tokenizer、loss、</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优化与数据流，就很难真正理解大模型。</a:t>
            </a:r>
          </a:p>
          <a:p>
            <a:pPr algn="l"/>
            <a:endPar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24" name="文本框 23"/>
          <p:cNvSpPr txBox="1"/>
          <p:nvPr/>
        </p:nvSpPr>
        <p:spPr>
          <a:xfrm>
            <a:off x="500088" y="3785552"/>
            <a:ext cx="8531769" cy="400110"/>
          </a:xfrm>
          <a:prstGeom prst="rect">
            <a:avLst/>
          </a:prstGeom>
          <a:noFill/>
        </p:spPr>
        <p:txBody>
          <a:bodyPr wrap="square">
            <a:spAutoFit/>
          </a:bodyPr>
          <a:lstStyle/>
          <a:p>
            <a:pPr marL="285750" indent="-285750">
              <a:buFont typeface="Arial" panose="020B0604020202020204" pitchFamily="34" charset="0"/>
              <a:buChar char="•"/>
            </a:pPr>
            <a:r>
              <a:rPr lang="en-US" altLang="zh-CN" sz="2000" b="1"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a:t>
            </a:r>
            <a:r>
              <a:rPr lang="en-US" altLang="zh-CN" sz="2000"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 </a:t>
            </a:r>
            <a:r>
              <a:rPr lang="zh-CN" altLang="en-US" sz="2000"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项目简介</a:t>
            </a:r>
            <a:endParaRPr kumimoji="0" lang="en-US" altLang="zh-CN" sz="2000"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29" name="文本框 28"/>
          <p:cNvSpPr txBox="1"/>
          <p:nvPr/>
        </p:nvSpPr>
        <p:spPr>
          <a:xfrm>
            <a:off x="500380" y="4185920"/>
            <a:ext cx="5378450" cy="2030095"/>
          </a:xfrm>
          <a:prstGeom prst="rect">
            <a:avLst/>
          </a:prstGeom>
          <a:noFill/>
        </p:spPr>
        <p:txBody>
          <a:bodyPr wrap="square" rtlCol="0">
            <a:spAutoFit/>
          </a:bodyPr>
          <a:lstStyle/>
          <a:p>
            <a:pPr algn="l"/>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MiniMind-3 / MiniMind-3-MoE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于 2026-04-01 发布，结构、</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Tokenizer、</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训练链路与推理接口全面更新，覆盖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Tokenizer、Pretrain、SFT、LoRA、DPO、RLAIF、Tool Use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与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Agentic RL。</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可以作为本课程金融因子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DSL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项目的训练主线。</a:t>
            </a:r>
          </a:p>
          <a:p>
            <a:pPr algn="l">
              <a:spcAft>
                <a:spcPts val="0"/>
              </a:spcAft>
            </a:pPr>
            <a:r>
              <a:rPr lang="en-US" altLang="zh-CN" b="0" u="sng">
                <a:solidFill>
                  <a:srgbClr val="28A2A2"/>
                </a:solidFill>
                <a:latin typeface="思源黑体 CN Regular"/>
              </a:rPr>
              <a:t>https://github.com/jingyaogong/minimind</a:t>
            </a:r>
          </a:p>
          <a:p>
            <a:pPr algn="l">
              <a:spcAft>
                <a:spcPts val="0"/>
              </a:spcAft>
            </a:pPr>
            <a:r>
              <a:rPr u="sng">
                <a:solidFill>
                  <a:srgbClr val="28A2A2"/>
                </a:solidFill>
                <a:latin typeface="思源黑体 CN Regular"/>
                <a:sym typeface="+mn-ea"/>
                <a:hlinkClick r:id="rId3"/>
              </a:rPr>
              <a:t>https://github.com/fire-institute/fire</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pic>
        <p:nvPicPr>
          <p:cNvPr id="2" name="图片 1" descr="minimind-3"/>
          <p:cNvPicPr>
            <a:picLocks noChangeAspect="1"/>
          </p:cNvPicPr>
          <p:nvPr/>
        </p:nvPicPr>
        <p:blipFill>
          <a:blip r:embed="rId4"/>
          <a:stretch>
            <a:fillRect/>
          </a:stretch>
        </p:blipFill>
        <p:spPr>
          <a:xfrm>
            <a:off x="6442710" y="859640"/>
            <a:ext cx="4741074" cy="3556300"/>
          </a:xfrm>
          <a:prstGeom prst="rect">
            <a:avLst/>
          </a:prstGeom>
        </p:spPr>
      </p:pic>
      <p:pic>
        <p:nvPicPr>
          <p:cNvPr id="3" name="图片 2"/>
          <p:cNvPicPr>
            <a:picLocks noChangeAspect="1"/>
          </p:cNvPicPr>
          <p:nvPr/>
        </p:nvPicPr>
        <p:blipFill>
          <a:blip r:embed="rId5"/>
          <a:stretch>
            <a:fillRect/>
          </a:stretch>
        </p:blipFill>
        <p:spPr>
          <a:xfrm>
            <a:off x="6442710" y="4334510"/>
            <a:ext cx="4844415" cy="2523490"/>
          </a:xfrm>
          <a:prstGeom prst="rect">
            <a:avLst/>
          </a:prstGeom>
        </p:spPr>
      </p:pic>
      <p:pic>
        <p:nvPicPr>
          <p:cNvPr id="4" name="图形 16"/>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91429" y="6542975"/>
            <a:ext cx="1574933" cy="2893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en-US" altLang="zh-CN" sz="2800" dirty="0" err="1">
                <a:solidFill>
                  <a:srgbClr val="28A2A2"/>
                </a:solidFill>
                <a:ea typeface="思源黑体 CN Bold" panose="020B0800000000000000" pitchFamily="34" charset="-122"/>
                <a:cs typeface="Open Sans" panose="020B0606030504020204" pitchFamily="34" charset="0"/>
              </a:rPr>
              <a:t>MiniMind</a:t>
            </a:r>
            <a:r>
              <a:rPr lang="zh-CN" altLang="en-US" sz="2800" dirty="0">
                <a:solidFill>
                  <a:srgbClr val="28A2A2"/>
                </a:solidFill>
                <a:ea typeface="思源黑体 CN Bold" panose="020B0800000000000000" pitchFamily="34" charset="-122"/>
                <a:cs typeface="Open Sans" panose="020B0606030504020204" pitchFamily="34" charset="0"/>
              </a:rPr>
              <a:t>的目标与特色 </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4"/>
          <a:stretch>
            <a:fillRect/>
          </a:stretch>
        </p:blipFill>
        <p:spPr>
          <a:xfrm>
            <a:off x="422275" y="885825"/>
            <a:ext cx="2974975" cy="948055"/>
          </a:xfrm>
          <a:prstGeom prst="rect">
            <a:avLst/>
          </a:prstGeom>
        </p:spPr>
      </p:pic>
      <p:pic>
        <p:nvPicPr>
          <p:cNvPr id="2" name="图片 1"/>
          <p:cNvPicPr>
            <a:picLocks noChangeAspect="1"/>
          </p:cNvPicPr>
          <p:nvPr/>
        </p:nvPicPr>
        <p:blipFill>
          <a:blip r:embed="rId5"/>
          <a:stretch>
            <a:fillRect/>
          </a:stretch>
        </p:blipFill>
        <p:spPr>
          <a:xfrm>
            <a:off x="422275" y="1970405"/>
            <a:ext cx="10045065" cy="46907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大语言模型训练流程概览</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62413" y="718760"/>
            <a:ext cx="11016482" cy="2951898"/>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整体流程: </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LLM</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训练可分为数据准备、模型构建、训练优化 三大阶段</a:t>
            </a:r>
          </a:p>
          <a:p>
            <a:pPr marL="285750" indent="-285750">
              <a:lnSpc>
                <a:spcPct val="150000"/>
              </a:lnSpc>
              <a:buFont typeface="Arial" panose="020B0604020202020204" pitchFamily="34" charset="0"/>
              <a:buChar char="•"/>
            </a:pP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数据准备: 收集大量文本语料 -&gt; </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Tokenizer</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文本转为数字序列 -&gt; 数据清洗、格式转换，划分训练/验证集。</a:t>
            </a:r>
          </a:p>
          <a:p>
            <a:pPr marL="285750" indent="-285750">
              <a:lnSpc>
                <a:spcPct val="150000"/>
              </a:lnSpc>
              <a:buFont typeface="Arial" panose="020B0604020202020204" pitchFamily="34" charset="0"/>
              <a:buChar char="•"/>
            </a:pP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模型构建: 定义</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Transformer</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等网络结构 -&gt; 初始化模型参数和配置（层数、隐藏维度、词表大小等）。</a:t>
            </a:r>
          </a:p>
          <a:p>
            <a:pPr marL="285750" indent="-285750">
              <a:lnSpc>
                <a:spcPct val="150000"/>
              </a:lnSpc>
              <a:buFont typeface="Arial" panose="020B0604020202020204" pitchFamily="34" charset="0"/>
              <a:buChar char="•"/>
            </a:pP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训练优化: 定义损失函数（如下一个词预测的交叉熵） -&gt; 选择优化器（如</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Adam） -&gt; </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编写训练循环（前向传播计算损失，后向传播更新参数）。</a:t>
            </a:r>
          </a:p>
          <a:p>
            <a:pPr marL="285750" indent="-285750">
              <a:lnSpc>
                <a:spcPct val="150000"/>
              </a:lnSpc>
              <a:buFont typeface="Arial" panose="020B0604020202020204" pitchFamily="34" charset="0"/>
              <a:buChar char="•"/>
            </a:pP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迭代提升: 可以继续经过预训练（</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Pretrain）、</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监督微调（</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SFT）、</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对齐训练（</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DPO / PPO / GRPO / CISPO）</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以及 </a:t>
            </a:r>
            <a:r>
              <a:rPr kumimoji="0" lang="en-US" altLang="zh-CN"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Agentic RL </a:t>
            </a:r>
            <a:r>
              <a:rPr kumimoji="0" lang="zh-CN" altLang="en-US" b="0"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等阶段，不断提升模型能力。</a:t>
            </a:r>
          </a:p>
        </p:txBody>
      </p:sp>
      <p:pic>
        <p:nvPicPr>
          <p:cNvPr id="8" name="图片 7">
            <a:extLst>
              <a:ext uri="{FF2B5EF4-FFF2-40B4-BE49-F238E27FC236}">
                <a16:creationId xmlns:a16="http://schemas.microsoft.com/office/drawing/2014/main" id="{794F0D30-C797-B37E-9AE8-67FABD60EDF6}"/>
              </a:ext>
            </a:extLst>
          </p:cNvPr>
          <p:cNvPicPr>
            <a:picLocks noChangeAspect="1"/>
          </p:cNvPicPr>
          <p:nvPr/>
        </p:nvPicPr>
        <p:blipFill>
          <a:blip r:embed="rId4"/>
          <a:stretch>
            <a:fillRect/>
          </a:stretch>
        </p:blipFill>
        <p:spPr>
          <a:xfrm>
            <a:off x="903152" y="3664581"/>
            <a:ext cx="9688277" cy="32103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大语言模型训练流程概览</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378" y="912225"/>
            <a:ext cx="9779956" cy="527556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577426" y="6187793"/>
            <a:ext cx="7629313" cy="368300"/>
          </a:xfrm>
          <a:prstGeom prst="rect">
            <a:avLst/>
          </a:prstGeom>
          <a:noFill/>
        </p:spPr>
        <p:txBody>
          <a:bodyPr wrap="square">
            <a:spAutoFit/>
          </a:bodyPr>
          <a:lstStyle/>
          <a:p>
            <a:r>
              <a:rPr lang="zh-CN" altLang="en-US" b="1" dirty="0">
                <a:solidFill>
                  <a:srgbClr val="000000"/>
                </a:solidFill>
                <a:hlinkClick r:id="rId5"/>
              </a:rPr>
              <a:t>https://www.youtube.com/watch?v=bZQun8Y4L2A</a:t>
            </a:r>
            <a:endParaRPr lang="en-US" altLang="zh-CN" b="1" dirty="0">
              <a:solidFill>
                <a:srgbClr val="000000"/>
              </a:solidFill>
            </a:endParaRPr>
          </a:p>
        </p:txBody>
      </p:sp>
      <p:sp>
        <p:nvSpPr>
          <p:cNvPr id="9" name="文本框 8"/>
          <p:cNvSpPr txBox="1"/>
          <p:nvPr/>
        </p:nvSpPr>
        <p:spPr>
          <a:xfrm>
            <a:off x="577426" y="6505622"/>
            <a:ext cx="6096000" cy="368300"/>
          </a:xfrm>
          <a:prstGeom prst="rect">
            <a:avLst/>
          </a:prstGeom>
          <a:noFill/>
        </p:spPr>
        <p:txBody>
          <a:bodyPr wrap="square">
            <a:spAutoFit/>
          </a:bodyPr>
          <a:lstStyle/>
          <a:p>
            <a:pPr algn="l">
              <a:spcAft>
                <a:spcPts val="0"/>
              </a:spcAft>
            </a:pPr>
            <a:r>
              <a:rPr u="sng">
                <a:solidFill>
                  <a:srgbClr val="28A2A2"/>
                </a:solidFill>
                <a:latin typeface="思源黑体 CN Regular"/>
                <a:sym typeface="+mn-ea"/>
                <a:hlinkClick r:id="rId6"/>
              </a:rPr>
              <a:t>https://github.com/karpathy/nanoGPT</a:t>
            </a:r>
            <a:endParaRPr lang="zh-CN" altLang="en-US"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en-US" altLang="zh-CN" sz="2800" dirty="0">
                <a:solidFill>
                  <a:srgbClr val="28A2A2"/>
                </a:solidFill>
                <a:ea typeface="思源黑体 CN Bold" panose="020B0800000000000000" pitchFamily="34" charset="-122"/>
                <a:cs typeface="Open Sans" panose="020B0606030504020204" pitchFamily="34" charset="0"/>
              </a:rPr>
              <a:t>Tokenizer</a:t>
            </a:r>
            <a:r>
              <a:rPr lang="zh-CN" altLang="en-US" sz="2800" dirty="0">
                <a:solidFill>
                  <a:srgbClr val="28A2A2"/>
                </a:solidFill>
                <a:ea typeface="思源黑体 CN Bold" panose="020B0800000000000000" pitchFamily="34" charset="-122"/>
                <a:cs typeface="Open Sans" panose="020B0606030504020204" pitchFamily="34" charset="0"/>
              </a:rPr>
              <a:t>分词器基础概念 </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406784" y="854865"/>
            <a:ext cx="4184645" cy="1200329"/>
          </a:xfrm>
          <a:prstGeom prst="rect">
            <a:avLst/>
          </a:prstGeom>
          <a:noFill/>
        </p:spPr>
        <p:txBody>
          <a:bodyPr wrap="square">
            <a:spAutoFit/>
          </a:bodyPr>
          <a:lstStyle/>
          <a:p>
            <a:r>
              <a:rPr lang="en-US" altLang="zh-CN" dirty="0">
                <a:solidFill>
                  <a:srgbClr val="000000"/>
                </a:solidFill>
                <a:hlinkClick r:id="rId4"/>
              </a:rPr>
              <a:t>https://platform.openai.com/tokenizer</a:t>
            </a:r>
            <a:endParaRPr lang="en-US" altLang="zh-CN" dirty="0">
              <a:solidFill>
                <a:srgbClr val="000000"/>
              </a:solidFill>
            </a:endParaRPr>
          </a:p>
          <a:p>
            <a:r>
              <a:rPr lang="en-US" altLang="zh-CN" dirty="0">
                <a:solidFill>
                  <a:srgbClr val="000000"/>
                </a:solidFill>
                <a:hlinkClick r:id="rId5"/>
              </a:rPr>
              <a:t>https://github.com/jingyaogong/minimind/blob/master/model/tokenizer.json</a:t>
            </a:r>
            <a:endParaRPr lang="en-US" altLang="zh-CN" dirty="0">
              <a:solidFill>
                <a:srgbClr val="000000"/>
              </a:solidFill>
            </a:endParaRPr>
          </a:p>
          <a:p>
            <a:endParaRPr lang="en-US" altLang="zh-CN" dirty="0">
              <a:solidFill>
                <a:srgbClr val="000000"/>
              </a:solidFill>
            </a:endParaRPr>
          </a:p>
        </p:txBody>
      </p:sp>
      <p:sp>
        <p:nvSpPr>
          <p:cNvPr id="7" name="文本框 6"/>
          <p:cNvSpPr txBox="1"/>
          <p:nvPr/>
        </p:nvSpPr>
        <p:spPr>
          <a:xfrm>
            <a:off x="354645" y="985128"/>
            <a:ext cx="5828441" cy="5492750"/>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为何需要分词</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(Tokenization):</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模型无法直接处理原始文本，需先将文本转换为数字序列。</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Tokenizer（</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分词器）充当“词典”，把单词、子词或特殊模板标记映射为整数</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ID。</a:t>
            </a:r>
          </a:p>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基本原理：</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常用方法有</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BPE</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en-US" altLang="zh-CN" i="0" u="none" strike="noStrike" kern="1200" cap="none" spc="0" normalizeH="0" baseline="0" noProof="0" dirty="0" err="1">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WordPiece</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等，将文本按字符</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子词切分。每个唯一片段赋予一个</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ID</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，模型的词嵌入层根据</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ID</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查找向量表示</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词表</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(vocabulary):</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Tokenizer</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包含一个词表（如几千到数十万词）。</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ID</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的取值范围由词表大小决定。模型生成结果时，通过词表</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ID</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再映射回文字</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重要性</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词表选择影响模型效果和大小。输出层是对词表中</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N</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个词的分类，词表过大增加模型参数和计算量，过小则可能拆分过细、降低表示效率</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grpSp>
        <p:nvGrpSpPr>
          <p:cNvPr id="13" name="组合 12"/>
          <p:cNvGrpSpPr/>
          <p:nvPr/>
        </p:nvGrpSpPr>
        <p:grpSpPr>
          <a:xfrm>
            <a:off x="6406784" y="1851631"/>
            <a:ext cx="5351739" cy="4487781"/>
            <a:chOff x="6194384" y="1513584"/>
            <a:chExt cx="5997616" cy="5029391"/>
          </a:xfrm>
        </p:grpSpPr>
        <p:pic>
          <p:nvPicPr>
            <p:cNvPr id="9" name="图片 8"/>
            <p:cNvPicPr>
              <a:picLocks noChangeAspect="1"/>
            </p:cNvPicPr>
            <p:nvPr/>
          </p:nvPicPr>
          <p:blipFill>
            <a:blip r:embed="rId6"/>
            <a:stretch>
              <a:fillRect/>
            </a:stretch>
          </p:blipFill>
          <p:spPr>
            <a:xfrm>
              <a:off x="6194384" y="1513584"/>
              <a:ext cx="5997616" cy="5029391"/>
            </a:xfrm>
            <a:prstGeom prst="rect">
              <a:avLst/>
            </a:prstGeom>
          </p:spPr>
        </p:pic>
        <p:pic>
          <p:nvPicPr>
            <p:cNvPr id="11" name="图片 10"/>
            <p:cNvPicPr>
              <a:picLocks noChangeAspect="1"/>
            </p:cNvPicPr>
            <p:nvPr/>
          </p:nvPicPr>
          <p:blipFill>
            <a:blip r:embed="rId7"/>
            <a:stretch>
              <a:fillRect/>
            </a:stretch>
          </p:blipFill>
          <p:spPr>
            <a:xfrm>
              <a:off x="6392736" y="1992676"/>
              <a:ext cx="5600912" cy="813578"/>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训练数据准备</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96738" y="867254"/>
            <a:ext cx="3580901" cy="5029390"/>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多阶段数据</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完整的大模型训练通常分阶段使用不同数据：无监督语料用于预训练，让模型学习通用知识；问答对话数据用于</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SFT(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监督微调</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，让模型学会遵循指令；人类偏好数据用于</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RLHF(</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人类反馈强化学习</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，让模型回答更符合偏好</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数据要求</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：大规模、高质量、多样性。</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在各阶段都精心挑选和清洗数据，以在小模型上取得相对好的效果</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7" name="文本框 6"/>
          <p:cNvSpPr txBox="1"/>
          <p:nvPr/>
        </p:nvSpPr>
        <p:spPr>
          <a:xfrm>
            <a:off x="422377" y="6484276"/>
            <a:ext cx="7033260" cy="369332"/>
          </a:xfrm>
          <a:prstGeom prst="rect">
            <a:avLst/>
          </a:prstGeom>
          <a:noFill/>
        </p:spPr>
        <p:txBody>
          <a:bodyPr wrap="square">
            <a:spAutoFit/>
          </a:bodyPr>
          <a:lstStyle/>
          <a:p>
            <a:r>
              <a:rPr lang="zh-CN" altLang="en-US" dirty="0">
                <a:solidFill>
                  <a:srgbClr val="000000"/>
                </a:solidFill>
              </a:rPr>
              <a:t>https://www.modelscope.cn/datasets/gongjy/minimind_dataset/files</a:t>
            </a:r>
          </a:p>
        </p:txBody>
      </p:sp>
      <p:pic>
        <p:nvPicPr>
          <p:cNvPr id="11" name="图片 10"/>
          <p:cNvPicPr>
            <a:picLocks noChangeAspect="1"/>
          </p:cNvPicPr>
          <p:nvPr/>
        </p:nvPicPr>
        <p:blipFill>
          <a:blip r:embed="rId4"/>
          <a:srcRect b="33725"/>
          <a:stretch>
            <a:fillRect/>
          </a:stretch>
        </p:blipFill>
        <p:spPr>
          <a:xfrm>
            <a:off x="4385945" y="945515"/>
            <a:ext cx="7208520" cy="3580130"/>
          </a:xfrm>
          <a:prstGeom prst="rect">
            <a:avLst/>
          </a:prstGeom>
        </p:spPr>
      </p:pic>
      <p:pic>
        <p:nvPicPr>
          <p:cNvPr id="5" name="图片 4" descr="dataset"/>
          <p:cNvPicPr>
            <a:picLocks noChangeAspect="1"/>
          </p:cNvPicPr>
          <p:nvPr/>
        </p:nvPicPr>
        <p:blipFill>
          <a:blip r:embed="rId5"/>
          <a:stretch>
            <a:fillRect/>
          </a:stretch>
        </p:blipFill>
        <p:spPr>
          <a:xfrm>
            <a:off x="3872865" y="4538980"/>
            <a:ext cx="8095615" cy="19310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模型搭建</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24840" y="6463030"/>
            <a:ext cx="6096000" cy="369332"/>
          </a:xfrm>
          <a:prstGeom prst="rect">
            <a:avLst/>
          </a:prstGeom>
          <a:noFill/>
        </p:spPr>
        <p:txBody>
          <a:bodyPr wrap="square">
            <a:spAutoFit/>
          </a:bodyPr>
          <a:lstStyle/>
          <a:p>
            <a:r>
              <a:rPr lang="en-US" altLang="zh-CN" dirty="0">
                <a:solidFill>
                  <a:srgbClr val="000000"/>
                </a:solidFill>
              </a:rPr>
              <a:t>https://poloclub.github.io/transformer-explainer/</a:t>
            </a:r>
          </a:p>
        </p:txBody>
      </p:sp>
      <p:sp>
        <p:nvSpPr>
          <p:cNvPr id="5" name="文本框 4"/>
          <p:cNvSpPr txBox="1"/>
          <p:nvPr/>
        </p:nvSpPr>
        <p:spPr>
          <a:xfrm>
            <a:off x="624840" y="5884162"/>
            <a:ext cx="6096000" cy="646331"/>
          </a:xfrm>
          <a:prstGeom prst="rect">
            <a:avLst/>
          </a:prstGeom>
          <a:noFill/>
        </p:spPr>
        <p:txBody>
          <a:bodyPr wrap="square">
            <a:spAutoFit/>
          </a:bodyPr>
          <a:lstStyle/>
          <a:p>
            <a:r>
              <a:rPr lang="zh-CN" altLang="en-US" dirty="0">
                <a:solidFill>
                  <a:srgbClr val="000000"/>
                </a:solidFill>
              </a:rPr>
              <a:t>https://github.com/jingyaogong/minimind/blob/master/model/model_minimind.py</a:t>
            </a:r>
          </a:p>
        </p:txBody>
      </p:sp>
      <p:pic>
        <p:nvPicPr>
          <p:cNvPr id="2" name="图片 1" descr="LLM-structure"/>
          <p:cNvPicPr>
            <a:picLocks noChangeAspect="1"/>
          </p:cNvPicPr>
          <p:nvPr/>
        </p:nvPicPr>
        <p:blipFill>
          <a:blip r:embed="rId4"/>
          <a:stretch>
            <a:fillRect/>
          </a:stretch>
        </p:blipFill>
        <p:spPr>
          <a:xfrm>
            <a:off x="326390" y="1024890"/>
            <a:ext cx="5338445" cy="3334385"/>
          </a:xfrm>
          <a:prstGeom prst="rect">
            <a:avLst/>
          </a:prstGeom>
        </p:spPr>
      </p:pic>
      <p:pic>
        <p:nvPicPr>
          <p:cNvPr id="4" name="图片 3" descr="LLM-structure-moe"/>
          <p:cNvPicPr>
            <a:picLocks noChangeAspect="1"/>
          </p:cNvPicPr>
          <p:nvPr/>
        </p:nvPicPr>
        <p:blipFill>
          <a:blip r:embed="rId5"/>
          <a:stretch>
            <a:fillRect/>
          </a:stretch>
        </p:blipFill>
        <p:spPr>
          <a:xfrm>
            <a:off x="6047740" y="1020445"/>
            <a:ext cx="5925820" cy="3232785"/>
          </a:xfrm>
          <a:prstGeom prst="rect">
            <a:avLst/>
          </a:prstGeom>
        </p:spPr>
      </p:pic>
      <p:sp>
        <p:nvSpPr>
          <p:cNvPr id="7" name="文本框 6">
            <a:extLst>
              <a:ext uri="{FF2B5EF4-FFF2-40B4-BE49-F238E27FC236}">
                <a16:creationId xmlns:a16="http://schemas.microsoft.com/office/drawing/2014/main" id="{7E45AF05-F9B0-A1A9-FF84-BF9335E2C9EF}"/>
              </a:ext>
            </a:extLst>
          </p:cNvPr>
          <p:cNvSpPr txBox="1"/>
          <p:nvPr/>
        </p:nvSpPr>
        <p:spPr>
          <a:xfrm>
            <a:off x="218440" y="4253230"/>
            <a:ext cx="5739015" cy="1289905"/>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Dense</a:t>
            </a: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模型</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 </a:t>
            </a:r>
          </a:p>
          <a:p>
            <a:pPr>
              <a:lnSpc>
                <a:spcPct val="150000"/>
              </a:lnSpc>
            </a:pP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人类偏好数据用于</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RLHF(</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人类反馈强化学习</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，让模型回答更符合偏好</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模型训练</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pic>
        <p:nvPicPr>
          <p:cNvPr id="2" name="图片 1" descr="sft_loss"/>
          <p:cNvPicPr>
            <a:picLocks noChangeAspect="1"/>
          </p:cNvPicPr>
          <p:nvPr/>
        </p:nvPicPr>
        <p:blipFill>
          <a:blip r:embed="rId4"/>
          <a:stretch>
            <a:fillRect/>
          </a:stretch>
        </p:blipFill>
        <p:spPr>
          <a:xfrm>
            <a:off x="4033926" y="3721622"/>
            <a:ext cx="7690370" cy="2638382"/>
          </a:xfrm>
          <a:prstGeom prst="rect">
            <a:avLst/>
          </a:prstGeom>
        </p:spPr>
      </p:pic>
      <p:pic>
        <p:nvPicPr>
          <p:cNvPr id="4" name="图片 3" descr="pretrain_loss"/>
          <p:cNvPicPr>
            <a:picLocks noChangeAspect="1"/>
          </p:cNvPicPr>
          <p:nvPr/>
        </p:nvPicPr>
        <p:blipFill>
          <a:blip r:embed="rId5"/>
          <a:stretch>
            <a:fillRect/>
          </a:stretch>
        </p:blipFill>
        <p:spPr>
          <a:xfrm>
            <a:off x="4033926" y="988375"/>
            <a:ext cx="7690369" cy="2625754"/>
          </a:xfrm>
          <a:prstGeom prst="rect">
            <a:avLst/>
          </a:prstGeom>
        </p:spPr>
      </p:pic>
      <p:sp>
        <p:nvSpPr>
          <p:cNvPr id="7" name="文本框 6"/>
          <p:cNvSpPr txBox="1"/>
          <p:nvPr/>
        </p:nvSpPr>
        <p:spPr>
          <a:xfrm>
            <a:off x="396738" y="867254"/>
            <a:ext cx="3580901" cy="5492750"/>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预训练 (</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Pretrain):</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LLM </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首先要学会的是先把尽可能多的基础知识和语言规律吸收到参数里。预训练做的事情，本质上就是让模型先埋头读大量文本。这个阶段通常是“无监督”的。</a:t>
            </a:r>
          </a:p>
          <a:p>
            <a:pPr marL="285750" indent="-285750">
              <a:lnSpc>
                <a:spcPct val="150000"/>
              </a:lnSpc>
              <a:buFont typeface="Arial" panose="020B0604020202020204" pitchFamily="34" charset="0"/>
              <a:buChar char="•"/>
            </a:pP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有监督微调</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 (Supervised Fine-Tuning)</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SFT </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并不只是把模型调成“更会聊天”，它同样可以继续向模型中灌入新的知识、行为模式和回答风格。  </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SFT </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更像是在高质量、更有目标的数据上继续深加工。</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模型训练</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0283" y="1307696"/>
            <a:ext cx="5532090" cy="4133261"/>
          </a:xfrm>
          <a:prstGeom prst="rect">
            <a:avLst/>
          </a:prstGeom>
        </p:spPr>
      </p:pic>
      <p:sp>
        <p:nvSpPr>
          <p:cNvPr id="4" name="文本框 3"/>
          <p:cNvSpPr txBox="1"/>
          <p:nvPr/>
        </p:nvSpPr>
        <p:spPr>
          <a:xfrm>
            <a:off x="422377" y="848788"/>
            <a:ext cx="3580901" cy="458908"/>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预训练语言模型</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lang="en-US" altLang="zh-CN"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SFT</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微调</a:t>
            </a:r>
            <a:endPar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
        <p:nvSpPr>
          <p:cNvPr id="7" name="文本框 6"/>
          <p:cNvSpPr txBox="1"/>
          <p:nvPr/>
        </p:nvSpPr>
        <p:spPr>
          <a:xfrm>
            <a:off x="393160" y="5736849"/>
            <a:ext cx="6368157" cy="523220"/>
          </a:xfrm>
          <a:prstGeom prst="rect">
            <a:avLst/>
          </a:prstGeom>
          <a:noFill/>
        </p:spPr>
        <p:txBody>
          <a:bodyPr wrap="square">
            <a:spAutoFit/>
          </a:bodyPr>
          <a:lstStyle/>
          <a:p>
            <a:r>
              <a:rPr lang="zh-CN" altLang="en-US" sz="1400" dirty="0">
                <a:solidFill>
                  <a:srgbClr val="000000"/>
                </a:solidFill>
                <a:hlinkClick r:id="rId5"/>
              </a:rPr>
              <a:t>https://github.com/jingyaogong/minimind/blob/master/trainer/train_pretrain.py</a:t>
            </a:r>
            <a:endParaRPr lang="en-US" altLang="zh-CN" sz="1400" dirty="0">
              <a:solidFill>
                <a:srgbClr val="000000"/>
              </a:solidFill>
            </a:endParaRPr>
          </a:p>
          <a:p>
            <a:r>
              <a:rPr lang="zh-CN" altLang="en-US" sz="1400" dirty="0">
                <a:solidFill>
                  <a:srgbClr val="000000"/>
                </a:solidFill>
                <a:hlinkClick r:id="rId6"/>
              </a:rPr>
              <a:t>https://github.com/jingyaogong/minimind/blob/master/trainer/train_full_sft.py</a:t>
            </a:r>
            <a:endParaRPr lang="en-US" altLang="zh-CN" sz="1400" dirty="0">
              <a:solidFill>
                <a:srgbClr val="000000"/>
              </a:solidFill>
            </a:endParaRPr>
          </a:p>
        </p:txBody>
      </p:sp>
      <p:pic>
        <p:nvPicPr>
          <p:cNvPr id="9" name="图片 8"/>
          <p:cNvPicPr>
            <a:picLocks noChangeAspect="1"/>
          </p:cNvPicPr>
          <p:nvPr/>
        </p:nvPicPr>
        <p:blipFill>
          <a:blip r:embed="rId7"/>
          <a:stretch>
            <a:fillRect/>
          </a:stretch>
        </p:blipFill>
        <p:spPr>
          <a:xfrm>
            <a:off x="6696283" y="1188949"/>
            <a:ext cx="5102557" cy="531143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模型训练</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377" y="1803821"/>
            <a:ext cx="5131297" cy="3875610"/>
          </a:xfrm>
          <a:prstGeom prst="rect">
            <a:avLst/>
          </a:prstGeom>
        </p:spPr>
      </p:pic>
      <p:sp>
        <p:nvSpPr>
          <p:cNvPr id="9" name="文本框 8"/>
          <p:cNvSpPr txBox="1"/>
          <p:nvPr/>
        </p:nvSpPr>
        <p:spPr>
          <a:xfrm>
            <a:off x="422377" y="820846"/>
            <a:ext cx="10621826"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en-US" altLang="zh-CN" b="1" i="0" u="none" strike="noStrike" kern="1200" cap="none" spc="0" normalizeH="0" baseline="0" noProof="0" dirty="0" err="1">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RLHF:</a:t>
            </a:r>
            <a:r>
              <a:rPr kumimoji="0" lang="en-US" altLang="zh-CN" i="0" u="none" strike="noStrike" kern="1200" cap="none" spc="0" normalizeH="0" baseline="0" noProof="0" dirty="0" err="1">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Reinforcement</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 Learning from Human Feedback </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使用强化学习的方式直接优化带有人类反馈的语言模型。</a:t>
            </a: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RLHF </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使得在一般文本数据语料库上训练的语言模型能和复杂的人类价值观对齐。</a:t>
            </a:r>
          </a:p>
        </p:txBody>
      </p:sp>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16126" y="1766486"/>
            <a:ext cx="5217542" cy="4448001"/>
          </a:xfrm>
          <a:prstGeom prst="rect">
            <a:avLst/>
          </a:prstGeom>
        </p:spPr>
      </p:pic>
      <p:sp>
        <p:nvSpPr>
          <p:cNvPr id="15" name="文本框 14"/>
          <p:cNvSpPr txBox="1"/>
          <p:nvPr/>
        </p:nvSpPr>
        <p:spPr>
          <a:xfrm>
            <a:off x="658332" y="5907860"/>
            <a:ext cx="6156960" cy="830997"/>
          </a:xfrm>
          <a:prstGeom prst="rect">
            <a:avLst/>
          </a:prstGeom>
          <a:noFill/>
        </p:spPr>
        <p:txBody>
          <a:bodyPr wrap="square">
            <a:spAutoFit/>
          </a:bodyPr>
          <a:lstStyle/>
          <a:p>
            <a:r>
              <a:rPr lang="zh-CN" altLang="en-US" sz="1600" dirty="0">
                <a:solidFill>
                  <a:srgbClr val="000000"/>
                </a:solidFill>
                <a:hlinkClick r:id="rId6"/>
              </a:rPr>
              <a:t>https://arxiv.org/pdf/2203.02155</a:t>
            </a:r>
            <a:endParaRPr lang="en-US" altLang="zh-CN" sz="1600" dirty="0">
              <a:solidFill>
                <a:srgbClr val="000000"/>
              </a:solidFill>
            </a:endParaRPr>
          </a:p>
          <a:p>
            <a:r>
              <a:rPr lang="zh-CN" altLang="en-US" sz="1600" dirty="0">
                <a:solidFill>
                  <a:srgbClr val="000000"/>
                </a:solidFill>
                <a:hlinkClick r:id="rId7"/>
              </a:rPr>
              <a:t>https://github.com/jingyaogong/minimind/blob/master/trainer/train_dpo.py</a:t>
            </a:r>
            <a:endParaRPr lang="en-US" altLang="zh-CN" sz="1600"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模型训练</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4"/>
          <a:stretch>
            <a:fillRect/>
          </a:stretch>
        </p:blipFill>
        <p:spPr>
          <a:xfrm>
            <a:off x="609600" y="1104270"/>
            <a:ext cx="4119750" cy="1820511"/>
          </a:xfrm>
          <a:prstGeom prst="rect">
            <a:avLst/>
          </a:prstGeom>
        </p:spPr>
      </p:pic>
      <p:pic>
        <p:nvPicPr>
          <p:cNvPr id="10" name="图片 9"/>
          <p:cNvPicPr>
            <a:picLocks noChangeAspect="1"/>
          </p:cNvPicPr>
          <p:nvPr/>
        </p:nvPicPr>
        <p:blipFill>
          <a:blip r:embed="rId5"/>
          <a:stretch>
            <a:fillRect/>
          </a:stretch>
        </p:blipFill>
        <p:spPr>
          <a:xfrm>
            <a:off x="609600" y="2992948"/>
            <a:ext cx="3654507" cy="1766570"/>
          </a:xfrm>
          <a:prstGeom prst="rect">
            <a:avLst/>
          </a:prstGeom>
        </p:spPr>
      </p:pic>
      <p:pic>
        <p:nvPicPr>
          <p:cNvPr id="13" name="图片 12"/>
          <p:cNvPicPr>
            <a:picLocks noChangeAspect="1"/>
          </p:cNvPicPr>
          <p:nvPr/>
        </p:nvPicPr>
        <p:blipFill>
          <a:blip r:embed="rId6"/>
          <a:stretch>
            <a:fillRect/>
          </a:stretch>
        </p:blipFill>
        <p:spPr>
          <a:xfrm>
            <a:off x="583237" y="4936873"/>
            <a:ext cx="4740072" cy="1786798"/>
          </a:xfrm>
          <a:prstGeom prst="rect">
            <a:avLst/>
          </a:prstGeom>
        </p:spPr>
      </p:pic>
      <p:sp>
        <p:nvSpPr>
          <p:cNvPr id="14" name="文本框 13"/>
          <p:cNvSpPr txBox="1"/>
          <p:nvPr/>
        </p:nvSpPr>
        <p:spPr>
          <a:xfrm>
            <a:off x="583237" y="817780"/>
            <a:ext cx="3470822" cy="369332"/>
          </a:xfrm>
          <a:prstGeom prst="rect">
            <a:avLst/>
          </a:prstGeom>
          <a:noFill/>
        </p:spPr>
        <p:txBody>
          <a:bodyPr wrap="none" rtlCol="0">
            <a:spAutoFit/>
          </a:bodyPr>
          <a:lstStyle/>
          <a:p>
            <a:pPr marL="285750" indent="-285750" algn="l">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推理模型训练 （</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Deepseek</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a:t>
            </a:r>
          </a:p>
        </p:txBody>
      </p:sp>
      <p:pic>
        <p:nvPicPr>
          <p:cNvPr id="4" name="图片 3">
            <a:extLst>
              <a:ext uri="{FF2B5EF4-FFF2-40B4-BE49-F238E27FC236}">
                <a16:creationId xmlns:a16="http://schemas.microsoft.com/office/drawing/2014/main" id="{DE25E183-0468-F3CF-5DC1-015C4C7ACE25}"/>
              </a:ext>
            </a:extLst>
          </p:cNvPr>
          <p:cNvPicPr>
            <a:picLocks noChangeAspect="1"/>
          </p:cNvPicPr>
          <p:nvPr/>
        </p:nvPicPr>
        <p:blipFill>
          <a:blip r:embed="rId7"/>
          <a:stretch>
            <a:fillRect/>
          </a:stretch>
        </p:blipFill>
        <p:spPr>
          <a:xfrm>
            <a:off x="5557799" y="817780"/>
            <a:ext cx="6399710" cy="4854691"/>
          </a:xfrm>
          <a:prstGeom prst="rect">
            <a:avLst/>
          </a:prstGeom>
        </p:spPr>
      </p:pic>
      <p:sp>
        <p:nvSpPr>
          <p:cNvPr id="9" name="文本框 8"/>
          <p:cNvSpPr txBox="1"/>
          <p:nvPr/>
        </p:nvSpPr>
        <p:spPr>
          <a:xfrm>
            <a:off x="5455904" y="5830272"/>
            <a:ext cx="6096000" cy="738664"/>
          </a:xfrm>
          <a:prstGeom prst="rect">
            <a:avLst/>
          </a:prstGeom>
          <a:noFill/>
        </p:spPr>
        <p:txBody>
          <a:bodyPr wrap="square">
            <a:spAutoFit/>
          </a:bodyPr>
          <a:lstStyle/>
          <a:p>
            <a:r>
              <a:rPr lang="zh-CN" altLang="en-US" sz="1400" dirty="0">
                <a:solidFill>
                  <a:srgbClr val="000000"/>
                </a:solidFill>
                <a:hlinkClick r:id="rId8"/>
              </a:rPr>
              <a:t>https://github.com/huggingface/open-r1</a:t>
            </a:r>
            <a:endParaRPr lang="en-US" altLang="zh-CN" sz="1400" dirty="0">
              <a:solidFill>
                <a:srgbClr val="000000"/>
              </a:solidFill>
            </a:endParaRPr>
          </a:p>
          <a:p>
            <a:r>
              <a:rPr lang="zh-CN" altLang="en-US" sz="1400" dirty="0">
                <a:solidFill>
                  <a:srgbClr val="000000"/>
                </a:solidFill>
                <a:hlinkClick r:id="rId9"/>
              </a:rPr>
              <a:t>https://github.com/jingyaogong/minimind/blob/master/trainer/train_distill_reason.py</a:t>
            </a:r>
            <a:endParaRPr lang="en-US" altLang="zh-CN" sz="1400"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模型评估测试</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54645" y="985128"/>
            <a:ext cx="9162735" cy="5908040"/>
          </a:xfrm>
          <a:prstGeom prst="rect">
            <a:avLst/>
          </a:prstGeom>
          <a:noFill/>
        </p:spPr>
        <p:txBody>
          <a:bodyPr wrap="square">
            <a:spAutoFit/>
          </a:bodyPr>
          <a:lstStyle/>
          <a:p>
            <a:pPr marL="285750" indent="-285750">
              <a:lnSpc>
                <a:spcPct val="150000"/>
              </a:lnSpc>
              <a:buFont typeface="Arial" panose="020B0604020202020204" pitchFamily="34" charset="0"/>
              <a:buChar char="•"/>
            </a:pPr>
            <a:r>
              <a:rPr kumimoji="0" lang="zh-CN" altLang="en-US"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基础测试</a:t>
            </a:r>
            <a:r>
              <a:rPr kumimoji="0" lang="en-US" altLang="zh-CN" b="1"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a:t>
            </a:r>
            <a:r>
              <a:rPr lang="zh-CN" altLang="en-US" b="0" i="0" dirty="0">
                <a:solidFill>
                  <a:srgbClr val="1F2328"/>
                </a:solidFill>
                <a:effectLst/>
                <a:latin typeface="-apple-system"/>
              </a:rPr>
              <a:t>在第三方测评榜（</a:t>
            </a:r>
            <a:r>
              <a:rPr lang="en-US" altLang="zh-CN" b="0" i="0" dirty="0">
                <a:solidFill>
                  <a:srgbClr val="1F2328"/>
                </a:solidFill>
                <a:effectLst/>
                <a:latin typeface="-apple-system"/>
              </a:rPr>
              <a:t>C-Eval</a:t>
            </a:r>
            <a:r>
              <a:rPr lang="zh-CN" altLang="en-US" b="0" i="0" dirty="0">
                <a:solidFill>
                  <a:srgbClr val="1F2328"/>
                </a:solidFill>
                <a:effectLst/>
                <a:latin typeface="-apple-system"/>
              </a:rPr>
              <a:t>、</a:t>
            </a:r>
            <a:r>
              <a:rPr lang="en-US" altLang="zh-CN" b="0" i="0" dirty="0">
                <a:solidFill>
                  <a:srgbClr val="1F2328"/>
                </a:solidFill>
                <a:effectLst/>
                <a:latin typeface="-apple-system"/>
              </a:rPr>
              <a:t>C-MMLU</a:t>
            </a:r>
            <a:r>
              <a:rPr lang="zh-CN" altLang="en-US" b="0" i="0" dirty="0">
                <a:solidFill>
                  <a:srgbClr val="1F2328"/>
                </a:solidFill>
                <a:effectLst/>
                <a:latin typeface="-apple-system"/>
              </a:rPr>
              <a:t>、</a:t>
            </a:r>
            <a:r>
              <a:rPr lang="en-US" altLang="zh-CN" b="0" i="0" dirty="0">
                <a:solidFill>
                  <a:srgbClr val="1F2328"/>
                </a:solidFill>
                <a:effectLst/>
                <a:latin typeface="-apple-system"/>
              </a:rPr>
              <a:t>OpenBookQA</a:t>
            </a:r>
            <a:r>
              <a:rPr lang="zh-CN" altLang="en-US" b="0" i="0" dirty="0">
                <a:solidFill>
                  <a:srgbClr val="1F2328"/>
                </a:solidFill>
                <a:effectLst/>
                <a:latin typeface="-apple-system"/>
              </a:rPr>
              <a:t>等）进行模型测试。</a:t>
            </a:r>
            <a:endParaRPr lang="en-US" altLang="zh-CN" b="0" i="0" dirty="0">
              <a:solidFill>
                <a:srgbClr val="1F2328"/>
              </a:solidFill>
              <a:effectLst/>
              <a:latin typeface="-apple-system"/>
            </a:endParaRPr>
          </a:p>
          <a:p>
            <a:pPr marL="285750" indent="-285750">
              <a:lnSpc>
                <a:spcPct val="150000"/>
              </a:lnSpc>
              <a:buFont typeface="Arial" panose="020B0604020202020204" pitchFamily="34" charset="0"/>
              <a:buChar char="•"/>
            </a:pPr>
            <a:endParaRPr lang="en-US" altLang="zh-CN" dirty="0">
              <a:solidFill>
                <a:srgbClr val="1F2328"/>
              </a:solidFill>
              <a:latin typeface="-apple-system"/>
            </a:endParaRPr>
          </a:p>
          <a:p>
            <a:pPr marL="285750" indent="-285750">
              <a:lnSpc>
                <a:spcPct val="150000"/>
              </a:lnSpc>
              <a:buFont typeface="Arial" panose="020B0604020202020204" pitchFamily="34" charset="0"/>
              <a:buChar char="•"/>
            </a:pPr>
            <a:endParaRPr lang="en-US" altLang="zh-CN" b="0" i="0" dirty="0">
              <a:solidFill>
                <a:srgbClr val="1F2328"/>
              </a:solidFill>
              <a:effectLst/>
              <a:latin typeface="-apple-system"/>
            </a:endParaRPr>
          </a:p>
          <a:p>
            <a:pPr marL="285750" indent="-285750">
              <a:lnSpc>
                <a:spcPct val="150000"/>
              </a:lnSpc>
              <a:buFont typeface="Arial" panose="020B0604020202020204" pitchFamily="34" charset="0"/>
              <a:buChar char="•"/>
            </a:pPr>
            <a:endParaRPr lang="en-US" altLang="zh-CN" b="0" i="0" dirty="0">
              <a:solidFill>
                <a:srgbClr val="1F2328"/>
              </a:solidFill>
              <a:effectLst/>
              <a:latin typeface="-apple-system"/>
            </a:endParaRPr>
          </a:p>
          <a:p>
            <a:pPr marL="285750" indent="-285750">
              <a:lnSpc>
                <a:spcPct val="150000"/>
              </a:lnSpc>
              <a:buFont typeface="Arial" panose="020B0604020202020204" pitchFamily="34" charset="0"/>
              <a:buChar char="•"/>
            </a:pPr>
            <a:endParaRPr lang="en-US" altLang="zh-CN" dirty="0">
              <a:solidFill>
                <a:srgbClr val="1F2328"/>
              </a:solidFill>
              <a:latin typeface="-apple-system"/>
            </a:endParaRPr>
          </a:p>
          <a:p>
            <a:pPr marL="285750" indent="-285750">
              <a:lnSpc>
                <a:spcPct val="150000"/>
              </a:lnSpc>
              <a:buFont typeface="Arial" panose="020B0604020202020204" pitchFamily="34" charset="0"/>
              <a:buChar char="•"/>
            </a:pPr>
            <a:endParaRPr lang="en-US" altLang="zh-CN" b="0" i="0" dirty="0">
              <a:solidFill>
                <a:srgbClr val="1F2328"/>
              </a:solidFill>
              <a:effectLst/>
              <a:latin typeface="-apple-system"/>
            </a:endParaRPr>
          </a:p>
          <a:p>
            <a:pPr marL="285750" indent="-285750">
              <a:lnSpc>
                <a:spcPct val="150000"/>
              </a:lnSpc>
              <a:buFont typeface="Arial" panose="020B0604020202020204" pitchFamily="34" charset="0"/>
              <a:buChar char="•"/>
            </a:pPr>
            <a:endParaRPr lang="en-US" altLang="zh-CN" dirty="0">
              <a:solidFill>
                <a:srgbClr val="1F2328"/>
              </a:solidFill>
              <a:latin typeface="-apple-system"/>
            </a:endParaRPr>
          </a:p>
          <a:p>
            <a:pPr marL="285750" indent="-285750">
              <a:lnSpc>
                <a:spcPct val="150000"/>
              </a:lnSpc>
              <a:buFont typeface="Arial" panose="020B0604020202020204" pitchFamily="34" charset="0"/>
              <a:buChar char="•"/>
            </a:pPr>
            <a:endParaRPr lang="en-US" altLang="zh-CN" b="0" i="0" dirty="0">
              <a:solidFill>
                <a:srgbClr val="1F2328"/>
              </a:solidFill>
              <a:effectLst/>
              <a:latin typeface="-apple-system"/>
            </a:endParaRPr>
          </a:p>
          <a:p>
            <a:pPr marL="285750" indent="-285750">
              <a:lnSpc>
                <a:spcPct val="150000"/>
              </a:lnSpc>
              <a:buFont typeface="Arial" panose="020B0604020202020204" pitchFamily="34" charset="0"/>
              <a:buChar char="•"/>
            </a:pPr>
            <a:endParaRPr lang="en-US" altLang="zh-CN" dirty="0">
              <a:solidFill>
                <a:srgbClr val="1F2328"/>
              </a:solidFill>
              <a:latin typeface="-apple-system"/>
            </a:endParaRPr>
          </a:p>
          <a:p>
            <a:pPr marL="285750" indent="-285750">
              <a:lnSpc>
                <a:spcPct val="150000"/>
              </a:lnSpc>
              <a:buFont typeface="Arial" panose="020B0604020202020204" pitchFamily="34" charset="0"/>
              <a:buChar char="•"/>
            </a:pPr>
            <a:endParaRPr lang="en-US" altLang="zh-CN" dirty="0">
              <a:solidFill>
                <a:srgbClr val="1F2328"/>
              </a:solidFill>
              <a:latin typeface="-apple-system"/>
            </a:endParaRPr>
          </a:p>
          <a:p>
            <a:pPr>
              <a:lnSpc>
                <a:spcPct val="150000"/>
              </a:lnSpc>
            </a:pPr>
            <a:endParaRPr lang="zh-CN" altLang="en-US" b="0" i="0" dirty="0">
              <a:solidFill>
                <a:srgbClr val="1F2328"/>
              </a:solidFill>
              <a:effectLst/>
              <a:latin typeface="-apple-system"/>
            </a:endParaRPr>
          </a:p>
          <a:p>
            <a:pPr marL="285750" indent="-285750">
              <a:lnSpc>
                <a:spcPct val="150000"/>
              </a:lnSpc>
              <a:buFont typeface="Arial" panose="020B0604020202020204" pitchFamily="34" charset="0"/>
              <a:buChar char="•"/>
            </a:pP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垂直领域数据集测试</a:t>
            </a:r>
          </a:p>
          <a:p>
            <a:pPr marL="742950" lvl="1" indent="-285750">
              <a:lnSpc>
                <a:spcPct val="150000"/>
              </a:lnSpc>
              <a:buFont typeface="Arial" panose="020B0604020202020204" pitchFamily="34" charset="0"/>
              <a:buChar char="•"/>
            </a:pP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FIRE DSL</a:t>
            </a:r>
            <a:r>
              <a:rPr kumimoji="0" lang="zh-CN" altLang="en-US"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金融数据</a:t>
            </a:r>
            <a:b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br>
            <a:r>
              <a:rPr kumimoji="0" lang="en-US" altLang="zh-CN" i="0" u="none" strike="noStrike" kern="1200" cap="none" spc="0" normalizeH="0" baseline="0" noProof="0" dirty="0">
                <a:ln>
                  <a:noFill/>
                </a:ln>
                <a:solidFill>
                  <a:srgbClr val="3C3C3C"/>
                </a:solidFill>
                <a:effectLst/>
                <a:uLnTx/>
                <a:uFillTx/>
                <a:latin typeface="思源黑体 CN Regular" panose="020B0500000000000000" pitchFamily="34" charset="-122"/>
                <a:ea typeface="思源黑体 CN Regular" panose="020B0500000000000000" pitchFamily="34" charset="-122"/>
                <a:cs typeface="Open Sans" panose="020B0606030504020204" pitchFamily="34" charset="0"/>
              </a:rPr>
              <a:t> </a:t>
            </a:r>
          </a:p>
        </p:txBody>
      </p:sp>
      <p:sp>
        <p:nvSpPr>
          <p:cNvPr id="16" name="文本框 15"/>
          <p:cNvSpPr txBox="1"/>
          <p:nvPr/>
        </p:nvSpPr>
        <p:spPr>
          <a:xfrm>
            <a:off x="704215" y="1470273"/>
            <a:ext cx="7680960" cy="369332"/>
          </a:xfrm>
          <a:prstGeom prst="rect">
            <a:avLst/>
          </a:prstGeom>
          <a:noFill/>
        </p:spPr>
        <p:txBody>
          <a:bodyPr wrap="square">
            <a:spAutoFit/>
          </a:bodyPr>
          <a:lstStyle/>
          <a:p>
            <a:r>
              <a:rPr lang="zh-CN" altLang="en-US" dirty="0">
                <a:solidFill>
                  <a:srgbClr val="000000"/>
                </a:solidFill>
              </a:rPr>
              <a:t>https://github.com/jingyaogong/minimind/blob/master/eval_model.py</a:t>
            </a:r>
          </a:p>
        </p:txBody>
      </p:sp>
      <p:pic>
        <p:nvPicPr>
          <p:cNvPr id="2" name="图片 1"/>
          <p:cNvPicPr>
            <a:picLocks noChangeAspect="1"/>
          </p:cNvPicPr>
          <p:nvPr/>
        </p:nvPicPr>
        <p:blipFill>
          <a:blip r:embed="rId4"/>
          <a:stretch>
            <a:fillRect/>
          </a:stretch>
        </p:blipFill>
        <p:spPr>
          <a:xfrm>
            <a:off x="611505" y="2002155"/>
            <a:ext cx="7425055" cy="3139440"/>
          </a:xfrm>
          <a:prstGeom prst="rect">
            <a:avLst/>
          </a:prstGeom>
        </p:spPr>
      </p:pic>
      <p:pic>
        <p:nvPicPr>
          <p:cNvPr id="3" name="图片 2"/>
          <p:cNvPicPr>
            <a:picLocks noChangeAspect="1"/>
          </p:cNvPicPr>
          <p:nvPr/>
        </p:nvPicPr>
        <p:blipFill>
          <a:blip r:embed="rId5"/>
          <a:stretch>
            <a:fillRect/>
          </a:stretch>
        </p:blipFill>
        <p:spPr>
          <a:xfrm>
            <a:off x="8129270" y="1635125"/>
            <a:ext cx="3154045" cy="37071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期末小组课题</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22376" y="914400"/>
            <a:ext cx="10832363" cy="5632311"/>
          </a:xfrm>
          <a:prstGeom prst="rect">
            <a:avLst/>
          </a:prstGeom>
          <a:noFill/>
        </p:spPr>
        <p:txBody>
          <a:bodyPr wrap="square" rtlCol="0">
            <a:spAutoFit/>
          </a:bodyPr>
          <a:lstStyle/>
          <a:p>
            <a:pPr marL="285750" indent="-285750" algn="l">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以小组形式（每组</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2-3</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人）完成以下任务</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lgn="l">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项目目标</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742950" lvl="1"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从代码层面深入理解</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项目中的大语言模型训练原理。</a:t>
            </a:r>
            <a:b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b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主要任务是完成以下几项基础要求并进行优化：</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200150" lvl="2"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成功跑通</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项目中的主要流程并能够</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运行测试</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，同时从代码层面</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理解原理</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200150" lvl="2"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使用我们提供的特定数据集，</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训练并优化一个大语言模型</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提升其在垂直领域</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（专业领域）中的表现。</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200150" lvl="2" indent="-285750">
              <a:buFont typeface="Arial" panose="020B0604020202020204" pitchFamily="34" charset="0"/>
              <a:buChar char="•"/>
            </a:pP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尝试在</a:t>
            </a:r>
            <a:r>
              <a:rPr lang="en-US" altLang="zh-CN" b="1"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项目中优化某个子环节</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，并对比优化后的模型与基础训练模型的性能差异。优化的方向可以包括：</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657350" lvl="3"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测试训练推理模型</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/RLHF</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（强化学习与人类反馈）框架以完成任务。</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657350" lvl="3"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尝试优化模型架构，但不只是简单地增加模型参数，而是探索模型结构的其他潜在优化方式：例如损失函数，结构，优化器等</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657350" lvl="3"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重新构建分词器，特别是针对垂直领域中的专有名词和概念的处理进行优化。</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1657350" lvl="3" indent="-285750">
              <a:buFont typeface="Arial" panose="020B0604020202020204" pitchFamily="34" charset="0"/>
              <a:buChar char="•"/>
            </a:pP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a:t>
            </a:r>
          </a:p>
          <a:p>
            <a:pPr lvl="3"/>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最终提交内容</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742950" lvl="1"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小组展示</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PPT</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：展示整个项目的过程、成果及分析。</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742950" lvl="1"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研究报告：详细梳理</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Minimind</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中大语言模型训练过程的代码理解，分析优化训练环节的尝试和实际效果，并总结研究和优化过程中所得到的结论。</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lgn="l">
              <a:buFont typeface="Arial" panose="020B0604020202020204" pitchFamily="34" charset="0"/>
              <a:buChar char="•"/>
            </a:pP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6C87-F98E-360B-A9C1-1971B9B1EFE2}"/>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412F6575-E37E-62B5-CE3C-9CEC15D79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a:extLst>
              <a:ext uri="{FF2B5EF4-FFF2-40B4-BE49-F238E27FC236}">
                <a16:creationId xmlns:a16="http://schemas.microsoft.com/office/drawing/2014/main" id="{7550BAE8-E48B-F4C2-A100-DE5A72B041A7}"/>
              </a:ext>
            </a:extLst>
          </p:cNvPr>
          <p:cNvSpPr txBox="1"/>
          <p:nvPr/>
        </p:nvSpPr>
        <p:spPr>
          <a:xfrm>
            <a:off x="422377" y="189058"/>
            <a:ext cx="6094602" cy="430887"/>
          </a:xfrm>
          <a:prstGeom prst="rect">
            <a:avLst/>
          </a:prstGeom>
          <a:noFill/>
        </p:spPr>
        <p:txBody>
          <a:bodyPr wrap="square" lIns="0" tIns="0" rIns="0" bIns="0" anchor="t">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推荐资料</a:t>
            </a:r>
            <a:endParaRPr lang="zh-CN" altLang="en-US" sz="2800" dirty="0"/>
          </a:p>
        </p:txBody>
      </p:sp>
      <p:pic>
        <p:nvPicPr>
          <p:cNvPr id="17" name="图形 16">
            <a:extLst>
              <a:ext uri="{FF2B5EF4-FFF2-40B4-BE49-F238E27FC236}">
                <a16:creationId xmlns:a16="http://schemas.microsoft.com/office/drawing/2014/main" id="{0D718178-7CE8-C8D0-CCD1-B79B89DC3A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91429" y="6542975"/>
            <a:ext cx="1574933" cy="289387"/>
          </a:xfrm>
          <a:prstGeom prst="rect">
            <a:avLst/>
          </a:prstGeom>
        </p:spPr>
      </p:pic>
      <p:cxnSp>
        <p:nvCxnSpPr>
          <p:cNvPr id="18" name="直接连接符 17">
            <a:extLst>
              <a:ext uri="{FF2B5EF4-FFF2-40B4-BE49-F238E27FC236}">
                <a16:creationId xmlns:a16="http://schemas.microsoft.com/office/drawing/2014/main" id="{8563D38E-AC06-3F98-871C-7DE4D7C36C8C}"/>
              </a:ext>
            </a:extLst>
          </p:cNvPr>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F676B6B5-4936-4FE3-1202-4F728511B5AD}"/>
              </a:ext>
            </a:extLst>
          </p:cNvPr>
          <p:cNvSpPr txBox="1"/>
          <p:nvPr/>
        </p:nvSpPr>
        <p:spPr>
          <a:xfrm>
            <a:off x="500088" y="994003"/>
            <a:ext cx="9699584" cy="3934410"/>
          </a:xfrm>
          <a:prstGeom prst="rect">
            <a:avLst/>
          </a:prstGeom>
          <a:noFill/>
        </p:spPr>
        <p:txBody>
          <a:bodyPr wrap="square" lIns="0" tIns="0" rIns="0" bIns="0" rtlCol="0" anchor="t">
            <a:spAutoFit/>
          </a:bodyPr>
          <a:lstStyle/>
          <a:p>
            <a:pPr marL="285750" indent="-285750" algn="l">
              <a:spcAft>
                <a:spcPts val="400"/>
              </a:spcAft>
              <a:buFont typeface="Arial" panose="020B0604020202020204" pitchFamily="34" charset="0"/>
              <a:buChar char="•"/>
            </a:pPr>
            <a:r>
              <a:rPr b="1" u="none" dirty="0" err="1">
                <a:solidFill>
                  <a:srgbClr val="3C3C3C"/>
                </a:solidFill>
                <a:latin typeface="思源黑体 CN Regular"/>
              </a:rPr>
              <a:t>建议按以下顺序继续学习</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algn="l">
              <a:spcAft>
                <a:spcPts val="400"/>
              </a:spcAft>
            </a:pPr>
            <a:r>
              <a:rPr b="0" u="none" dirty="0">
                <a:solidFill>
                  <a:srgbClr val="3C3C3C"/>
                </a:solidFill>
                <a:latin typeface="思源黑体 CN Regular"/>
              </a:rPr>
              <a:t>1. </a:t>
            </a:r>
            <a:r>
              <a:rPr b="0" u="none" dirty="0" err="1">
                <a:solidFill>
                  <a:srgbClr val="3C3C3C"/>
                </a:solidFill>
                <a:latin typeface="思源黑体 CN Regular"/>
              </a:rPr>
              <a:t>先看</a:t>
            </a:r>
            <a:r>
              <a:rPr b="0" u="none" dirty="0">
                <a:solidFill>
                  <a:srgbClr val="3C3C3C"/>
                </a:solidFill>
                <a:latin typeface="思源黑体 CN Regular"/>
              </a:rPr>
              <a:t> MiniMind-3 </a:t>
            </a:r>
            <a:r>
              <a:rPr b="0" u="none" dirty="0" err="1">
                <a:solidFill>
                  <a:srgbClr val="3C3C3C"/>
                </a:solidFill>
                <a:latin typeface="思源黑体 CN Regular"/>
              </a:rPr>
              <a:t>主线代码与官方文档，结合</a:t>
            </a:r>
            <a:r>
              <a:rPr b="0" u="none" dirty="0">
                <a:solidFill>
                  <a:srgbClr val="3C3C3C"/>
                </a:solidFill>
                <a:latin typeface="思源黑体 CN Regular"/>
              </a:rPr>
              <a:t> train_pretrain.py、train_full_sft.py、train_grpo.py、train_agent.py </a:t>
            </a:r>
            <a:r>
              <a:rPr b="0" u="none" dirty="0" err="1">
                <a:solidFill>
                  <a:srgbClr val="3C3C3C"/>
                </a:solidFill>
                <a:latin typeface="思源黑体 CN Regular"/>
              </a:rPr>
              <a:t>理解完整训练链路</a:t>
            </a:r>
            <a:r>
              <a:rPr b="0" u="none" dirty="0">
                <a:solidFill>
                  <a:srgbClr val="3C3C3C"/>
                </a:solidFill>
                <a:latin typeface="思源黑体 CN Regular"/>
              </a:rPr>
              <a:t>。</a:t>
            </a:r>
          </a:p>
          <a:p>
            <a:pPr algn="l">
              <a:spcAft>
                <a:spcPts val="400"/>
              </a:spcAft>
            </a:pPr>
            <a:r>
              <a:rPr b="0" u="none" dirty="0">
                <a:solidFill>
                  <a:srgbClr val="3C3C3C"/>
                </a:solidFill>
                <a:latin typeface="思源黑体 CN Regular"/>
              </a:rPr>
              <a:t>2. </a:t>
            </a:r>
            <a:r>
              <a:rPr b="0" u="none" dirty="0" err="1">
                <a:solidFill>
                  <a:srgbClr val="3C3C3C"/>
                </a:solidFill>
                <a:latin typeface="思源黑体 CN Regular"/>
              </a:rPr>
              <a:t>再看</a:t>
            </a:r>
            <a:r>
              <a:rPr b="0" u="none" dirty="0">
                <a:solidFill>
                  <a:srgbClr val="3C3C3C"/>
                </a:solidFill>
                <a:latin typeface="思源黑体 CN Regular"/>
              </a:rPr>
              <a:t> </a:t>
            </a:r>
            <a:r>
              <a:rPr b="0" u="none" dirty="0" err="1">
                <a:solidFill>
                  <a:srgbClr val="3C3C3C"/>
                </a:solidFill>
                <a:latin typeface="思源黑体 CN Regular"/>
              </a:rPr>
              <a:t>LLMs-from-scratch，用图示建立</a:t>
            </a:r>
            <a:r>
              <a:rPr b="0" u="none" dirty="0">
                <a:solidFill>
                  <a:srgbClr val="3C3C3C"/>
                </a:solidFill>
                <a:latin typeface="思源黑体 CN Regular"/>
              </a:rPr>
              <a:t> </a:t>
            </a:r>
            <a:r>
              <a:rPr b="0" u="none" dirty="0" err="1">
                <a:solidFill>
                  <a:srgbClr val="3C3C3C"/>
                </a:solidFill>
                <a:latin typeface="思源黑体 CN Regular"/>
              </a:rPr>
              <a:t>tokenizer、Transformer、SFT、RLAIF</a:t>
            </a:r>
            <a:r>
              <a:rPr b="0" u="none" dirty="0">
                <a:solidFill>
                  <a:srgbClr val="3C3C3C"/>
                </a:solidFill>
                <a:latin typeface="思源黑体 CN Regular"/>
              </a:rPr>
              <a:t> 与 Agentic RL </a:t>
            </a:r>
            <a:r>
              <a:rPr b="0" u="none" dirty="0" err="1">
                <a:solidFill>
                  <a:srgbClr val="3C3C3C"/>
                </a:solidFill>
                <a:latin typeface="思源黑体 CN Regular"/>
              </a:rPr>
              <a:t>的直觉</a:t>
            </a:r>
            <a:r>
              <a:rPr b="0" u="none" dirty="0">
                <a:solidFill>
                  <a:srgbClr val="3C3C3C"/>
                </a:solidFill>
                <a:latin typeface="思源黑体 CN Regular"/>
              </a:rPr>
              <a:t>。</a:t>
            </a:r>
          </a:p>
          <a:p>
            <a:pPr algn="l">
              <a:spcAft>
                <a:spcPts val="600"/>
              </a:spcAft>
            </a:pPr>
            <a:r>
              <a:rPr b="0" u="none" dirty="0">
                <a:solidFill>
                  <a:srgbClr val="3C3C3C"/>
                </a:solidFill>
                <a:latin typeface="思源黑体 CN Regular"/>
              </a:rPr>
              <a:t>3. </a:t>
            </a:r>
            <a:r>
              <a:rPr b="0" u="none" dirty="0" err="1">
                <a:solidFill>
                  <a:srgbClr val="3C3C3C"/>
                </a:solidFill>
                <a:latin typeface="思源黑体 CN Regular"/>
              </a:rPr>
              <a:t>最后回到</a:t>
            </a:r>
            <a:r>
              <a:rPr b="0" u="none" dirty="0">
                <a:solidFill>
                  <a:srgbClr val="3C3C3C"/>
                </a:solidFill>
                <a:latin typeface="思源黑体 CN Regular"/>
              </a:rPr>
              <a:t> FIRE </a:t>
            </a:r>
            <a:r>
              <a:rPr b="0" u="none" dirty="0" err="1">
                <a:solidFill>
                  <a:srgbClr val="3C3C3C"/>
                </a:solidFill>
                <a:latin typeface="思源黑体 CN Regular"/>
              </a:rPr>
              <a:t>与金融因子</a:t>
            </a:r>
            <a:r>
              <a:rPr b="0" u="none" dirty="0">
                <a:solidFill>
                  <a:srgbClr val="3C3C3C"/>
                </a:solidFill>
                <a:latin typeface="思源黑体 CN Regular"/>
              </a:rPr>
              <a:t> DSL </a:t>
            </a:r>
            <a:r>
              <a:rPr b="0" u="none" dirty="0" err="1">
                <a:solidFill>
                  <a:srgbClr val="3C3C3C"/>
                </a:solidFill>
                <a:latin typeface="思源黑体 CN Regular"/>
              </a:rPr>
              <a:t>场景，把训练流程落实到“自然语言</a:t>
            </a:r>
            <a:r>
              <a:rPr b="0" u="none" dirty="0">
                <a:solidFill>
                  <a:srgbClr val="3C3C3C"/>
                </a:solidFill>
                <a:latin typeface="思源黑体 CN Regular"/>
              </a:rPr>
              <a:t> -&gt; DSL -&gt; </a:t>
            </a:r>
            <a:r>
              <a:rPr b="0" u="none" dirty="0" err="1">
                <a:solidFill>
                  <a:srgbClr val="3C3C3C"/>
                </a:solidFill>
                <a:latin typeface="思源黑体 CN Regular"/>
              </a:rPr>
              <a:t>执行</a:t>
            </a:r>
            <a:r>
              <a:rPr b="0" u="none" dirty="0">
                <a:solidFill>
                  <a:srgbClr val="3C3C3C"/>
                </a:solidFill>
                <a:latin typeface="思源黑体 CN Regular"/>
              </a:rPr>
              <a:t> -&gt; </a:t>
            </a:r>
            <a:r>
              <a:rPr b="0" u="none" dirty="0" err="1">
                <a:solidFill>
                  <a:srgbClr val="3C3C3C"/>
                </a:solidFill>
                <a:latin typeface="思源黑体 CN Regular"/>
              </a:rPr>
              <a:t>评测</a:t>
            </a:r>
            <a:r>
              <a:rPr b="0" u="none" dirty="0">
                <a:solidFill>
                  <a:srgbClr val="3C3C3C"/>
                </a:solidFill>
                <a:latin typeface="思源黑体 CN Regular"/>
              </a:rPr>
              <a:t> -&gt; </a:t>
            </a:r>
            <a:r>
              <a:rPr b="0" u="none" dirty="0" err="1">
                <a:solidFill>
                  <a:srgbClr val="3C3C3C"/>
                </a:solidFill>
                <a:latin typeface="思源黑体 CN Regular"/>
              </a:rPr>
              <a:t>reward”的垂直任务中</a:t>
            </a:r>
            <a:r>
              <a:rPr b="0" u="none" dirty="0">
                <a:solidFill>
                  <a:srgbClr val="3C3C3C"/>
                </a:solidFill>
                <a:latin typeface="思源黑体 CN Regular"/>
              </a:rPr>
              <a:t>。</a:t>
            </a:r>
            <a:endParaRPr lang="en-US" b="0" u="none" dirty="0">
              <a:solidFill>
                <a:srgbClr val="3C3C3C"/>
              </a:solidFill>
              <a:latin typeface="思源黑体 CN Regular"/>
            </a:endParaRPr>
          </a:p>
          <a:p>
            <a:pPr algn="l">
              <a:spcAft>
                <a:spcPts val="600"/>
              </a:spcAft>
            </a:pPr>
            <a:endParaRPr b="0" u="none" dirty="0">
              <a:solidFill>
                <a:srgbClr val="3C3C3C"/>
              </a:solidFill>
              <a:latin typeface="思源黑体 CN Regular"/>
            </a:endParaRPr>
          </a:p>
          <a:p>
            <a:pPr algn="l">
              <a:spcAft>
                <a:spcPts val="200"/>
              </a:spcAft>
            </a:pPr>
            <a:r>
              <a:rPr b="1" u="none" dirty="0" err="1">
                <a:solidFill>
                  <a:srgbClr val="3C3C3C"/>
                </a:solidFill>
                <a:latin typeface="思源黑体 CN Regular"/>
              </a:rPr>
              <a:t>推荐链接</a:t>
            </a:r>
            <a:endParaRPr b="1" u="none" dirty="0">
              <a:solidFill>
                <a:srgbClr val="3C3C3C"/>
              </a:solidFill>
              <a:latin typeface="思源黑体 CN Regular"/>
            </a:endParaRPr>
          </a:p>
          <a:p>
            <a:pPr algn="l">
              <a:spcAft>
                <a:spcPts val="0"/>
              </a:spcAft>
            </a:pPr>
            <a:r>
              <a:rPr b="0" u="sng" dirty="0">
                <a:solidFill>
                  <a:srgbClr val="28A2A2"/>
                </a:solidFill>
                <a:latin typeface="思源黑体 CN Regular"/>
                <a:hlinkClick r:id="rId4"/>
              </a:rPr>
              <a:t>https://jingyaogong.github.io/minimind/</a:t>
            </a:r>
          </a:p>
          <a:p>
            <a:pPr algn="l">
              <a:spcAft>
                <a:spcPts val="0"/>
              </a:spcAft>
            </a:pPr>
            <a:r>
              <a:rPr b="0" u="sng" dirty="0">
                <a:solidFill>
                  <a:srgbClr val="28A2A2"/>
                </a:solidFill>
                <a:latin typeface="思源黑体 CN Regular"/>
                <a:hlinkClick r:id="rId5"/>
              </a:rPr>
              <a:t>https://github.com/jingyaogong/minimind</a:t>
            </a:r>
          </a:p>
          <a:p>
            <a:pPr algn="l">
              <a:spcAft>
                <a:spcPts val="0"/>
              </a:spcAft>
            </a:pPr>
            <a:r>
              <a:rPr b="0" u="sng" dirty="0">
                <a:solidFill>
                  <a:srgbClr val="28A2A2"/>
                </a:solidFill>
                <a:latin typeface="思源黑体 CN Regular"/>
                <a:hlinkClick r:id="rId6"/>
              </a:rPr>
              <a:t>https://github.com/rasbt/LLMs-from-scratch</a:t>
            </a:r>
          </a:p>
          <a:p>
            <a:pPr algn="l">
              <a:spcAft>
                <a:spcPts val="0"/>
              </a:spcAft>
            </a:pPr>
            <a:r>
              <a:rPr b="0" u="sng" dirty="0">
                <a:solidFill>
                  <a:srgbClr val="28A2A2"/>
                </a:solidFill>
                <a:latin typeface="思源黑体 CN Regular"/>
                <a:hlinkClick r:id="rId7"/>
              </a:rPr>
              <a:t>https://github.com/fire-institute/fire</a:t>
            </a:r>
          </a:p>
        </p:txBody>
      </p:sp>
    </p:spTree>
    <p:extLst>
      <p:ext uri="{BB962C8B-B14F-4D97-AF65-F5344CB8AC3E}">
        <p14:creationId xmlns:p14="http://schemas.microsoft.com/office/powerpoint/2010/main" val="2815190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40957"/>
            <a:ext cx="12192000" cy="1433997"/>
          </a:xfrm>
          <a:prstGeom prst="rect">
            <a:avLst/>
          </a:prstGeom>
          <a:effectLst>
            <a:innerShdw blurRad="1270000" dir="16200000">
              <a:schemeClr val="bg1">
                <a:lumMod val="85000"/>
                <a:alpha val="50000"/>
              </a:schemeClr>
            </a:innerShdw>
          </a:effectLst>
        </p:spPr>
      </p:pic>
      <p:sp>
        <p:nvSpPr>
          <p:cNvPr id="6" name="文本框 5"/>
          <p:cNvSpPr txBox="1"/>
          <p:nvPr/>
        </p:nvSpPr>
        <p:spPr>
          <a:xfrm>
            <a:off x="422377" y="189058"/>
            <a:ext cx="6094602" cy="523220"/>
          </a:xfrm>
          <a:prstGeom prst="rect">
            <a:avLst/>
          </a:prstGeom>
          <a:noFill/>
        </p:spPr>
        <p:txBody>
          <a:bodyPr wrap="square">
            <a:spAutoFit/>
          </a:bodyPr>
          <a:lstStyle/>
          <a:p>
            <a:r>
              <a:rPr lang="zh-CN" altLang="en-US" sz="2800" dirty="0">
                <a:solidFill>
                  <a:srgbClr val="28A2A2"/>
                </a:solidFill>
                <a:ea typeface="思源黑体 CN Bold" panose="020B0800000000000000" pitchFamily="34" charset="-122"/>
                <a:cs typeface="Open Sans" panose="020B0606030504020204" pitchFamily="34" charset="0"/>
              </a:rPr>
              <a:t>期中个人课题</a:t>
            </a:r>
            <a:endParaRPr lang="zh-CN" altLang="en-US" sz="2800" dirty="0"/>
          </a:p>
        </p:txBody>
      </p:sp>
      <p:pic>
        <p:nvPicPr>
          <p:cNvPr id="17" name="图形 1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91429" y="6542975"/>
            <a:ext cx="1574933" cy="289387"/>
          </a:xfrm>
          <a:prstGeom prst="rect">
            <a:avLst/>
          </a:prstGeom>
        </p:spPr>
      </p:pic>
      <p:cxnSp>
        <p:nvCxnSpPr>
          <p:cNvPr id="18" name="直接连接符 17"/>
          <p:cNvCxnSpPr/>
          <p:nvPr/>
        </p:nvCxnSpPr>
        <p:spPr>
          <a:xfrm>
            <a:off x="500088" y="749612"/>
            <a:ext cx="8424809" cy="0"/>
          </a:xfrm>
          <a:prstGeom prst="line">
            <a:avLst/>
          </a:prstGeom>
          <a:ln w="15875">
            <a:solidFill>
              <a:srgbClr val="4C849D"/>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89846" y="934291"/>
            <a:ext cx="11586743" cy="4247317"/>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FIRE</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算子 </a:t>
            </a:r>
            <a:r>
              <a:rPr lang="en-US" altLang="zh-CN" b="1"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PyTorch</a:t>
            </a:r>
            <a:r>
              <a:rPr lang="en-US" altLang="zh-CN"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/CUDA </a:t>
            </a:r>
            <a:r>
              <a:rPr lang="zh-CN" altLang="en-US" b="1"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改写</a:t>
            </a:r>
          </a:p>
          <a:p>
            <a:pPr marL="285750" indent="-285750">
              <a:buFont typeface="Arial" panose="020B0604020202020204" pitchFamily="34" charset="0"/>
              <a:buChar char="•"/>
            </a:pPr>
            <a:endPar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任务形式</a:t>
            </a:r>
          </a:p>
          <a:p>
            <a:pPr marL="742950" lvl="1" indent="-285750">
              <a:buFont typeface="Arial" panose="020B0604020202020204" pitchFamily="34" charset="0"/>
              <a:buChar char="•"/>
            </a:pP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本任务为期中个人项目，每位同学独立完成。</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742950" lvl="1" indent="-285750">
              <a:buFont typeface="Arial" panose="020B0604020202020204" pitchFamily="34" charset="0"/>
              <a:buChar char="•"/>
            </a:pP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每位同学会分配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3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个金融因子算子。</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742950" lvl="1" indent="-285750">
              <a:buFont typeface="Arial" panose="020B0604020202020204" pitchFamily="34" charset="0"/>
              <a:buChar char="•"/>
            </a:pP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每位同学需要完成自己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3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个算子的：</a:t>
            </a:r>
          </a:p>
          <a:p>
            <a:pPr marL="1200150" lvl="2"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原始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pandas/FIRE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语义理解</a:t>
            </a:r>
          </a:p>
          <a:p>
            <a:pPr marL="1200150" lvl="2" indent="-285750">
              <a:buFont typeface="Arial" panose="020B0604020202020204" pitchFamily="34" charset="0"/>
              <a:buChar char="•"/>
            </a:pP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PyTorch</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/CUDA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版本实现</a:t>
            </a:r>
          </a:p>
          <a:p>
            <a:pPr marL="1200150" lvl="2"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数值正确性验证</a:t>
            </a:r>
          </a:p>
          <a:p>
            <a:pPr marL="1200150" lvl="2"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性能对比</a:t>
            </a:r>
          </a:p>
          <a:p>
            <a:pPr marL="1200150" lvl="2"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简短实验报告</a:t>
            </a:r>
          </a:p>
          <a:p>
            <a:pPr marL="285750" indent="-285750">
              <a:buFont typeface="Arial" panose="020B0604020202020204" pitchFamily="34" charset="0"/>
              <a:buChar char="•"/>
            </a:pPr>
            <a:endPar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本任务不是简单地把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pandas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代码改写成 </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torch </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代码，</a:t>
            </a:r>
            <a:b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b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而是以金融因子为背景，结合课程去理解</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pytorch</a:t>
            </a:r>
            <a:r>
              <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/CUDA</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的矩阵运算加速</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a:p>
            <a:pPr marL="285750" indent="-285750">
              <a:buFont typeface="Arial" panose="020B0604020202020204" pitchFamily="34" charset="0"/>
              <a:buChar char="•"/>
            </a:pP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可以使用</a:t>
            </a:r>
            <a:r>
              <a:rPr lang="en-US" altLang="zh-CN" dirty="0" err="1">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Vibecoding</a:t>
            </a:r>
            <a:r>
              <a:rPr lang="zh-CN" altLang="en-US"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rPr>
              <a:t>（推荐结合使用来锻炼）</a:t>
            </a:r>
            <a:endParaRPr lang="en-US" altLang="zh-CN"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endParaRPr>
          </a:p>
        </p:txBody>
      </p:sp>
    </p:spTree>
  </p:cSld>
  <p:clrMapOvr>
    <a:masterClrMapping/>
  </p:clrMapOvr>
</p:sld>
</file>

<file path=ppt/theme/theme1.xml><?xml version="1.0" encoding="utf-8"?>
<a:theme xmlns:a="http://schemas.openxmlformats.org/drawingml/2006/main" name="已停用母版样式">
  <a:themeElements>
    <a:clrScheme name="南方科技大学专属配色方案 01">
      <a:dk1>
        <a:srgbClr val="ED6C00"/>
      </a:dk1>
      <a:lt1>
        <a:srgbClr val="FFFFFF"/>
      </a:lt1>
      <a:dk2>
        <a:srgbClr val="01605A"/>
      </a:dk2>
      <a:lt2>
        <a:srgbClr val="F2F2F2"/>
      </a:lt2>
      <a:accent1>
        <a:srgbClr val="003F43"/>
      </a:accent1>
      <a:accent2>
        <a:srgbClr val="ED6C00"/>
      </a:accent2>
      <a:accent3>
        <a:srgbClr val="2BB7B3"/>
      </a:accent3>
      <a:accent4>
        <a:srgbClr val="01605A"/>
      </a:accent4>
      <a:accent5>
        <a:srgbClr val="77D3D2"/>
      </a:accent5>
      <a:accent6>
        <a:srgbClr val="DBF6EF"/>
      </a:accent6>
      <a:hlink>
        <a:srgbClr val="2BB7B3"/>
      </a:hlink>
      <a:folHlink>
        <a:srgbClr val="01605A"/>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marL="285750" indent="-285750" algn="l">
          <a:buFont typeface="Arial" panose="020B0604020202020204" pitchFamily="34" charset="0"/>
          <a:buChar char="•"/>
          <a:defRPr dirty="0">
            <a:solidFill>
              <a:srgbClr val="3C3C3C"/>
            </a:solidFill>
            <a:latin typeface="思源黑体 CN Regular" panose="020B0500000000000000" pitchFamily="34" charset="-122"/>
            <a:ea typeface="思源黑体 CN Regular" panose="020B0500000000000000" pitchFamily="34" charset="-122"/>
            <a:cs typeface="Open Sans" panose="020B06060305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TotalTime>
  <Words>1646</Words>
  <Application>Microsoft Office PowerPoint</Application>
  <PresentationFormat>宽屏</PresentationFormat>
  <Paragraphs>119</Paragraphs>
  <Slides>17</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-apple-system</vt:lpstr>
      <vt:lpstr>等线</vt:lpstr>
      <vt:lpstr>思源黑体 CN Bold</vt:lpstr>
      <vt:lpstr>思源黑体 CN Heavy</vt:lpstr>
      <vt:lpstr>思源黑体 CN Regular</vt:lpstr>
      <vt:lpstr>Arial</vt:lpstr>
      <vt:lpstr>Open Sans SemiBold</vt:lpstr>
      <vt:lpstr>已停用母版样式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Yaojia Zhang</dc:creator>
  <cp:lastModifiedBy>Zhoufei Tang</cp:lastModifiedBy>
  <cp:revision>1350</cp:revision>
  <dcterms:created xsi:type="dcterms:W3CDTF">2019-12-07T06:52:00Z</dcterms:created>
  <dcterms:modified xsi:type="dcterms:W3CDTF">2026-04-30T08:59:49Z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2458FFF9F71E40E8B2D22E8854D36877_12</vt:lpwstr>
  </property>
</Properties>
</file>